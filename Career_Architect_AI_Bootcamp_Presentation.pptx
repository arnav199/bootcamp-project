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497" r:id="rId4"/>
    <p:sldId id="499" r:id="rId6"/>
    <p:sldId id="500" r:id="rId7"/>
    <p:sldId id="501" r:id="rId8"/>
    <p:sldId id="512" r:id="rId9"/>
    <p:sldId id="513" r:id="rId10"/>
    <p:sldId id="505" r:id="rId11"/>
    <p:sldId id="503" r:id="rId12"/>
    <p:sldId id="508" r:id="rId13"/>
    <p:sldId id="507" r:id="rId14"/>
    <p:sldId id="504" r:id="rId15"/>
    <p:sldId id="502" r:id="rId16"/>
    <p:sldId id="506" r:id="rId17"/>
    <p:sldId id="269" r:id="rId18"/>
  </p:sldIdLst>
  <p:sldSz cx="9144000" cy="6858000" type="screen4x3"/>
  <p:notesSz cx="6760845" cy="99421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AA"/>
    <a:srgbClr val="0066B3"/>
    <a:srgbClr val="E31E24"/>
    <a:srgbClr val="006CB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93" autoAdjust="0"/>
    <p:restoredTop sz="94681"/>
  </p:normalViewPr>
  <p:slideViewPr>
    <p:cSldViewPr showGuides="1">
      <p:cViewPr varScale="1">
        <p:scale>
          <a:sx n="83" d="100"/>
          <a:sy n="83" d="100"/>
        </p:scale>
        <p:origin x="893" y="72"/>
      </p:cViewPr>
      <p:guideLst>
        <p:guide orient="horz" pos="2160"/>
        <p:guide pos="289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49:5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299.000 638.000 24575,'1.000'-13.000'0,"2.000"1.000"0,-1.000-1.000 0,2.000 1.000 0,0.000-1.000 0,0.000 1.000 0,1.000 0.000 0,0.000 0.000 0,1.000 1.000 0,12.000-18.000 0,-7.000 10.000 0,15.000-34.000 0,-25.000 51.000 0,-1.000 0.000 0,1.000 0.000 0,-1.000 1.000 0,1.000-1.000 0,-1.000 0.000 0,1.000 0.000 0,-1.000 0.000 0,0.000 0.000 0,0.000 0.000 0,0.000 0.000 0,-1.000-3.000 0,1.000 4.000 0,0.000 1.000 0,0.000-1.000 0,0.000 1.000 0,-1.000-1.000 0,1.000 1.000 0,0.000-1.000 0,-1.000 0.000 0,1.000 1.000 0,0.000-1.000 0,-1.000 1.000 0,1.000 0.000 0,-1.000-1.000 0,1.000 1.000 0,0.000-1.000 0,-1.000 1.000 0,0.000 0.000 0,1.000-1.000 0,-1.000 1.000 0,1.000 0.000 0,-1.000-1.000 0,1.000 1.000 0,-1.000 0.000 0,-1.000-1.000 0,0.000 1.000 0,-1.000 0.000 0,0.000 0.000 0,1.000 0.000 0,-1.000 1.000 0,0.000-1.000 0,1.000 1.000 0,-1.000-1.000 0,0.000 1.000 0,1.000 0.000 0,-1.000 0.000 0,1.000 0.000 0,-1.000 0.000 0,1.000 0.000 0,-4.000 3.000 0,-22.000 16.000 0,-46.000 41.000 0,-9.000 7.000 0,-17.000 16.000 0,87.000-77.000 0,6.000-10.000 0,7.000 1.000 0,-1.000 1.000 0,1.000 0.000 0,0.000 0.000 0,0.000 0.000 0,0.000-1.000 0,0.000 1.000 0,0.000 0.000 0,1.000 0.000 0,-1.000 0.000 0,0.000 0.000 0,0.000-1.000 0,1.000 1.000 0,-1.000 0.000 0,1.000 0.000 0,-1.000 0.000 0,1.000 0.000 0,-1.000 0.000 0,1.000 0.000 0,1.000-1.000 0,17.000-28.000 0,0.000 0.000 0,-2.000-1.000 0,-2.000-1.000 0,14.000-39.000 0,-27.000 67.000 0,-1.000-1.000 0,0.000 1.000 0,0.000-1.000 0,0.000 1.000 0,0.000-1.000 0,-1.000 0.000 0,0.000 1.000 0,0.000-9.000 0,0.000 11.000 0,-1.000 0.000 0,1.000 0.000 0,-1.000 1.000 0,0.000-1.000 0,0.000 0.000 0,1.000 1.000 0,-1.000-1.000 0,0.000 0.000 0,0.000 1.000 0,-1.000-1.000 0,1.000 1.000 0,0.000 0.000 0,0.000-1.000 0,-1.000 1.000 0,1.000 0.000 0,-1.000 0.000 0,1.000 0.000 0,-1.000 0.000 0,1.000 0.000 0,-1.000 0.000 0,0.000 0.000 0,1.000 0.000 0,-1.000 1.000 0,-2.000-2.000 0,1.000 2.000 0,0.000-1.000 0,1.000-1.000 0,-1.000 1.000 0,1.000 0.000 0,-1.000-1.000 0,1.000 1.000 0,0.000-1.000 0,0.000 0.000 0,0.000 0.000 0,0.000 0.000 0,0.000 0.000 0,0.000 0.000 0,0.000 0.000 0,1.000 0.000 0,-1.000-1.000 0,1.000 1.000 0,-3.000-5.000 0,2.000 3.000 0,0.000 0.000 0,0.000 0.000 0,-1.000 1.000 0,1.000 0.000 0,-1.000-1.000 0,-5.000-4.000 0,-15.000-3.000 0,21.000 11.000 0,1.000 0.000 0,0.000-1.000 0,0.000 1.000 0,0.000 0.000 0,-1.000-1.000 0,1.000 1.000 0,0.000-1.000 0,0.000 1.000 0,0.000-1.000 0,0.000 1.000 0,0.000-1.000 0,0.000 0.000 0,0.000 1.000 0,0.000-1.000 0,0.000 0.000 0,0.000 0.000 0,0.000 0.000 0,1.000 0.000 0,-1.000 0.000 0,0.000 0.000 0,0.000 0.000 0,1.000 0.000 0,-1.000 0.000 0,1.000 0.000 0,-1.000 0.000 0,1.000 0.000 0,0.000-1.000 0,-1.000 1.000 0,1.000 0.000 0,0.000 0.000 0,0.000 0.000 0,0.000-3.000 0,-1.000 0.000 0,0.000 1.000 0,1.000-1.000 0,0.000 0.000 0,0.000 0.000 0,0.000 0.000 0,1.000 1.000 0,-1.000-1.000 0,1.000 0.000 0,0.000 0.000 0,0.000 1.000 0,0.000-1.000 0,0.000 1.000 0,1.000-1.000 0,-1.000 1.000 0,1.000-1.000 0,0.000 1.000 0,0.000 0.000 0,0.000 0.000 0,1.000 0.000 0,-1.000 0.000 0,1.000 0.000 0,0.000 0.000 0,-1.000 1.000 0,1.000-1.000 0,0.000 1.000 0,0.000 0.000 0,1.000 0.000 0,-1.000 0.000 0,0.000 0.000 0,1.000 1.000 0,-1.000-1.000 0,1.000 1.000 0,0.000 0.000 0,-1.000 0.000 0,1.000 0.000 0,0.000 1.000 0,0.000-1.000 0,-1.000 1.000 0,1.000 0.000 0,0.000 0.000 0,0.000 0.000 0,0.000 0.000 0,-1.000 1.000 0,8.000 1.000 0,4.000 4.000 0,0.000 0.000 0,0.000 1.000 0,-1.000 0.000 0,25.000 17.000 0,13.000 7.000 0,-36.000-22.000 0,0.000-2.000 0,0.000 0.000 0,1.000-1.000 0,0.000-1.000 0,0.000-1.000 0,27.000 4.000 0,-39.000-7.000 0,0.000 0.000 0,0.000-1.000 0,0.000 0.000 0,-1.000 0.000 0,1.000 0.000 0,0.000-1.000 0,0.000 0.000 0,0.000 0.000 0,-1.000 0.000 0,1.000 0.000 0,0.000-1.000 0,-1.000 1.000 0,1.000-1.000 0,-1.000 0.000 0,0.000-1.000 0,1.000 1.000 0,-1.000-1.000 0,0.000 0.000 0,-1.000 0.000 0,1.000 0.000 0,0.000 0.000 0,-1.000-1.000 0,0.000 0.000 0,0.000 1.000 0,0.000-1.000 0,0.000 0.000 0,-1.000-1.000 0,4.000-5.000 0,2.000-15.000 0,-5.000 15.000 0,1.000 0.000 0,-1.000 0.000 0,2.000 0.000 0,7.000-13.000 0,-11.000 22.000 0,-1.000 0.000 0,1.000-1.000 0,0.000 1.000 0,0.000 0.000 0,0.000 0.000 0,-1.000 0.000 0,1.000 0.000 0,1.000 0.000 0,-1.000 0.000 0,0.000 0.000 0,0.000 1.000 0,0.000-1.000 0,0.000 0.000 0,0.000 1.000 0,1.000-1.000 0,-1.000 0.000 0,0.000 1.000 0,1.000 0.000 0,-1.000-1.000 0,0.000 1.000 0,1.000 0.000 0,-1.000-1.000 0,0.000 1.000 0,1.000 0.000 0,-1.000 0.000 0,1.000 0.000 0,-1.000 0.000 0,0.000 1.000 0,1.000-1.000 0,-1.000 0.000 0,1.000 1.000 0,-1.000-1.000 0,0.000 0.000 0,0.000 1.000 0,1.000 0.000 0,-1.000-1.000 0,0.000 1.000 0,0.000 0.000 0,2.000 1.000 0,2.000 3.000 0,-1.000-1.000 0,-1.000 1.000 0,1.000 0.000 0,-1.000 1.000 0,0.000-1.000 0,0.000 0.000 0,0.000 1.000 0,-1.000 0.000 0,1.000-1.000 0,-2.000 1.000 0,1.000 0.000 0,1.000 7.000 0,10.000 26.000 0,-9.000-31.000 0,1.000 0.000 0,0.000 0.000 0,0.000-1.000 0,1.000 0.000 0,0.000 0.000 0,1.000 0.000 0,-1.000 0.000 0,1.000-1.000 0,1.000-1.000 0,-1.000 1.000 0,1.000-1.000 0,12.000 7.000 0,-7.000-6.000 0,-1.000 0.000 0,1.000-1.000 0,0.000 0.000 0,0.000-1.000 0,0.000-1.000 0,1.000 0.000 0,24.000 2.000 0,-34.000-5.000 0,0.000 0.000 0,0.000 0.000 0,0.000-1.000 0,0.000 0.000 0,0.000 0.000 0,-1.000 0.000 0,1.000 0.000 0,0.000 0.000 0,0.000-1.000 0,-1.000 0.000 0,1.000 0.000 0,-1.000 0.000 0,5.000-3.000 0,43.000-41.000 0,-9.000 8.000 0,9.000 4.000 0,2.000 3.000 0,1.000 2.000 0,66.000-25.000 0,-98.000 46.000 0,1.000 2.000 0,0.000 1.000 0,0.000 0.000 0,0.000 2.000 0,43.000-1.000 0,26.000-3.000 0,-55.000 3.000 0,37.000 2.000 0,11.000-1.000 0,-73.000 0.000 0,-15.000-2.000 0,-21.000-2.000 0,-2.000 3.000 0,0.000 2.000 0,-1.000 1.000 0,1.000 1.000 0,0.000 1.000 0,0.000 1.000 0,0.000 2.000 0,0.000 0.000 0,1.000 2.000 0,-1.000 0.000 0,1.000 2.000 0,-41.000 19.000 0,61.000-24.000 0,-1.000 0.000 0,1.000-1.000 0,-1.000 1.000 0,0.000-1.000 0,0.000 0.000 0,0.000-1.000 0,-1.000 0.000 0,1.000 0.000 0,0.000 0.000 0,0.000-1.000 0,0.000 1.000 0,-1.000-2.000 0,1.000 1.000 0,0.000-1.000 0,0.000 0.000 0,-1.000 0.000 0,1.000 0.000 0,0.000-1.000 0,0.000 0.000 0,0.000 0.000 0,1.000-1.000 0,-1.000 1.000 0,1.000-1.000 0,-1.000-1.000 0,1.000 1.000 0,0.000-1.000 0,-7.000-6.000 0,5.000 4.000 0,0.000 0.000 0,-1.000 0.000 0,0.000 0.000 0,0.000 1.000 0,0.000 0.000 0,-1.000 1.000 0,0.000 0.000 0,1.000 0.000 0,-2.000 1.000 0,1.000 0.000 0,0.000 0.000 0,-1.000 1.000 0,1.000 0.000 0,-1.000 1.000 0,1.000 0.000 0,-16.000 1.000 0,2.000 1.000 0,1.000 0.000 0,0.000 2.000 0,0.000 0.000 0,0.000 1.000 0,-35.000 13.000 0,32.000-9.000 0,17.000-6.000 0,-1.000 0.000 0,0.000 1.000 0,1.000 0.000 0,0.000 1.000 0,0.000-1.000 0,0.000 2.000 0,0.000-1.000 0,0.000 1.000 0,1.000 0.000 0,0.000 1.000 0,0.000 0.000 0,-9.000 10.000 0,-2.000 9.000 0,1.000 1.000 0,1.000 0.000 0,1.000 2.000 0,-21.000 53.000 0,-129.000 245.000 0,132.000-268.000 0,-71.000 116.000 0,88.000-149.000 0,15.000-23.000 0,-1.000-1.000 0,1.000 1.000 0,0.000 0.000 0,0.000 0.000 0,0.000 0.000 0,0.000 0.000 0,1.000 0.000 0,-1.000 1.000 0,0.000-1.000 0,1.000 0.000 0,-1.000 0.000 0,1.000 0.000 0,0.000 1.000 0,0.000-1.000 0,0.000 0.000 0,0.000 3.000 0,1.000-4.000 0,-1.000-1.000 0,0.000 1.000 0,0.000 0.000 0,1.000-1.000 0,-1.000 1.000 0,0.000-1.000 0,1.000 1.000 0,-1.000-1.000 0,0.000 0.000 0,1.000 1.000 0,-1.000-1.000 0,1.000 1.000 0,-1.000-1.000 0,1.000 0.000 0,-1.000 1.000 0,1.000-1.000 0,-1.000 0.000 0,1.000 1.000 0,0.000-1.000 0,-1.000 0.000 0,2.000 1.000 0,21.000-3.000 0,-11.000-2.000 0,0.000-1.000 0,0.000 0.000 0,-1.000-1.000 0,0.000 0.000 0,0.000 0.000 0,0.000-1.000 0,18.000-17.000 0,61.000-66.000 0,-65.000 58.000 0,-2.000 0.000 0,-1.000-2.000 0,23.000-46.000 0,10.000-16.000 0,-16.000 26.000 0,-26.000 45.000 0,1.000 1.000 0,27.000-37.000 0,-39.000 58.000 0,1.000 0.000 0,-1.000 1.000 0,0.000-1.000 0,1.000 1.000 0,-1.000 0.000 0,1.000-1.000 0,0.000 1.000 0,0.000 1.000 0,0.000-1.000 0,0.000 0.000 0,0.000 1.000 0,0.000-1.000 0,0.000 1.000 0,1.000 0.000 0,-1.000 0.000 0,0.000 1.000 0,1.000-1.000 0,-1.000 0.000 0,0.000 1.000 0,1.000 0.000 0,-1.000 0.000 0,1.000 0.000 0,-1.000 0.000 0,0.000 1.000 0,1.000-1.000 0,-1.000 1.000 0,1.000 0.000 0,-1.000 0.000 0,0.000 0.000 0,0.000 0.000 0,0.000 1.000 0,0.000-1.000 0,0.000 1.000 0,0.000 0.000 0,0.000 0.000 0,0.000 0.000 0,0.000 0.000 0,-1.000 0.000 0,1.000 1.000 0,-1.000-1.000 0,0.000 1.000 0,0.000 0.000 0,0.000-1.000 0,0.000 1.000 0,0.000 0.000 0,-1.000 0.000 0,1.000 0.000 0,-1.000 1.000 0,0.000-1.000 0,1.000 0.000 0,0.000 7.000 0,1.000 35.000 0,-1.000 1.000 0,-8.000 77.000 0,5.000-120.000 0,0.000 10.000 0,-1.000 1.000 0,-1.000-1.000 0,0.000 0.000 0,-1.000 0.000 0,0.000-1.000 0,-1.000 1.000 0,0.000-1.000 0,-1.000 0.000 0,0.000 0.000 0,-1.000-1.000 0,-12.000 15.000 0,13.000-17.000 0,1.000-1.000 0,0.000 0.000 0,1.000 1.000 0,0.000 0.000 0,0.000 0.000 0,1.000 1.000 0,0.000-1.000 0,1.000 1.000 0,0.000-1.000 0,-2.000 18.000 0,4.000-27.000 0,0.000 0.000 0,0.000 0.000 0,0.000 0.000 0,0.000 1.000 0,0.000-1.000 0,0.000 0.000 0,0.000 0.000 0,0.000 0.000 0,0.000 0.000 0,0.000 0.000 0,0.000 0.000 0,0.000 0.000 0,0.000 1.000 0,0.000-1.000 0,0.000 0.000 0,0.000 0.000 0,0.000 0.000 0,0.000 0.000 0,0.000 0.000 0,0.000 0.000 0,0.000 0.000 0,0.000 0.000 0,0.000 1.000 0,0.000-1.000 0,0.000 0.000 0,0.000 0.000 0,0.000 0.000 0,0.000 0.000 0,0.000 0.000 0,0.000 0.000 0,0.000 0.000 0,1.000 0.000 0,-1.000 0.000 0,0.000 1.000 0,0.000-1.000 0,0.000 0.000 0,0.000 0.000 0,0.000 0.000 0,0.000 0.000 0,0.000 0.000 0,0.000 0.000 0,0.000 0.000 0,1.000 0.000 0,-1.000 0.000 0,0.000 0.000 0,0.000 0.000 0,0.000 0.000 0,0.000 0.000 0,0.000 0.000 0,0.000 0.000 0,0.000 0.000 0,1.000 0.000 0,-1.000 0.000 0,0.000 0.000 0,0.000 0.000 0,0.000 0.000 0,0.000 0.000 0,0.000 0.000 0,0.000 0.000 0,0.000 0.000 0,0.000 0.000 0,1.000 0.000 0,-1.000 0.000 0,7.000-9.000 0,7.000-14.000 0,41.000-109.000 0,31.000-60.000 0,-60.000 137.000 0,10.000-19.000 0,-31.000 66.000 0,-1.000 1.000 0,1.000 0.000 0,0.000 0.000 0,1.000 0.000 0,0.000 1.000 0,12.000-11.000 0,-18.000 16.000 0,1.000 0.000 0,0.000 0.000 0,0.000 1.000 0,-1.000-1.000 0,1.000 1.000 0,0.000-1.000 0,0.000 1.000 0,0.000-1.000 0,0.000 1.000 0,0.000-1.000 0,0.000 1.000 0,0.000 0.000 0,0.000 0.000 0,0.000-1.000 0,0.000 1.000 0,0.000 0.000 0,0.000 0.000 0,0.000 0.000 0,0.000 0.000 0,0.000 0.000 0,0.000 0.000 0,0.000 0.000 0,0.000 1.000 0,0.000-1.000 0,0.000 0.000 0,0.000 1.000 0,0.000-1.000 0,0.000 0.000 0,0.000 1.000 0,1.000 0.000 0,0.000 1.000 0,0.000 0.000 0,0.000 0.000 0,0.000 1.000 0,-1.000-1.000 0,1.000 0.000 0,-1.000 1.000 0,1.000-1.000 0,-1.000 1.000 0,0.000-1.000 0,0.000 1.000 0,1.000 3.000 0,2.000 9.000 0,0.000 0.000 0,2.000 31.000 0,-3.000 36.000 0,-15.000 161.000 0,1.000-81.000 0,14.000-131.000 0,1.000-27.000 0,1.000-19.000 0,4.000-49.000 0,-6.000 43.000 0,0.000-1.000 0,1.000 0.000 0,1.000 1.000 0,0.000 0.000 0,2.000 0.000 0,1.000 1.000 0,11.000-23.000 0,-3.000 18.000 0,1.000 0.000 0,39.000-44.000 0,-46.000 56.000 0,-6.000 9.000 0,-1.000-1.000 0,1.000 1.000 0,0.000-1.000 0,0.000 1.000 0,0.000 0.000 0,6.000-4.000 0,-9.000 8.000 0,0.000-1.000 0,0.000 1.000 0,0.000 0.000 0,0.000-1.000 0,0.000 1.000 0,0.000 0.000 0,0.000 0.000 0,0.000-1.000 0,0.000 1.000 0,0.000 0.000 0,0.000 0.000 0,0.000 0.000 0,0.000 0.000 0,0.000 1.000 0,0.000-1.000 0,0.000 0.000 0,0.000 0.000 0,0.000 1.000 0,0.000-1.000 0,0.000 0.000 0,0.000 1.000 0,0.000-1.000 0,0.000 1.000 0,0.000-1.000 0,0.000 1.000 0,-1.000-1.000 0,1.000 1.000 0,0.000 0.000 0,0.000 0.000 0,-1.000-1.000 0,1.000 1.000 0,0.000 0.000 0,-1.000 0.000 0,1.000 0.000 0,-1.000 0.000 0,1.000-1.000 0,-1.000 1.000 0,1.000 0.000 0,-1.000 0.000 0,0.000 0.000 0,1.000 2.000 0,6.000 19.000 0,0.000-1.000 0,-2.000 2.000 0,0.000-1.000 0,-1.000 0.000 0,0.000 43.000 0,-3.000 54.000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54:5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1.000 0.000 24575,'50.000'2.000'0,"58.000"11.000"0,47.000 1.000 0,-132.000-12.000 0,0.000 0.000 0,31.000 8.000 0,-30.000-5.000 0,48.000 4.000 0,-32.000-6.000 0,41.000 8.000 0,-43.000-5.000 0,57.000 2.000 0,-85.000-7.000 0,1.000-1.000 0,-1.000-1.000 0,1.000 0.000 0,-1.000 0.000 0,1.000-1.000 0,-1.000 0.000 0,0.000-1.000 0,0.000 0.000 0,0.000-1.000 0,17.000-8.000 0,-13.000 5.000 0,-1.000 2.000 0,1.000 0.000 0,1.000 0.000 0,-1.000 1.000 0,1.000 1.000 0,-1.000 1.000 0,1.000 0.000 0,0.000 1.000 0,0.000 0.000 0,26.000 3.000 0,-13.000 1.000 0,0.000 1.000 0,-1.000 1.000 0,1.000 2.000 0,45.000 17.000 0,-40.000-14.000 291,-25.000-8.000-622,0.000 1.000 0,0.000-1.000-1,0.000 2.000 1,10.000 4.000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5.png"/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customXml" Target="../ink/ink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325880"/>
            <a:ext cx="768096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260" y="-27384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65174" y="2204864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670685" y="3505200"/>
          <a:ext cx="60960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438150">
                <a:tc>
                  <a:txBody>
                    <a:bodyPr/>
                    <a:lstStyle/>
                    <a:p>
                      <a:r>
                        <a:rPr lang="en-IN"/>
                        <a:t>Name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/>
                        <a:t>Roll.no</a:t>
                      </a:r>
                      <a:endParaRPr lang="en-IN"/>
                    </a:p>
                  </a:txBody>
                  <a:tcPr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lang="en-IN"/>
                        <a:t>Arnav Kapil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/>
                        <a:t>2501730045</a:t>
                      </a:r>
                      <a:endParaRPr lang="en-IN"/>
                    </a:p>
                  </a:txBody>
                  <a:tcPr anchor="ctr"/>
                </a:tc>
              </a:tr>
              <a:tr h="4381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/>
                        <a:t>Madhur Mangla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/>
                        <a:t>2501350087</a:t>
                      </a:r>
                      <a:endParaRPr lang="en-IN"/>
                    </a:p>
                  </a:txBody>
                  <a:tcPr anchor="ctr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lang="en-IN"/>
                        <a:t>Hemant Singh Sehrawat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/>
                        <a:t>2501730324</a:t>
                      </a:r>
                      <a:endParaRPr lang="en-IN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14310" y="1372508"/>
            <a:ext cx="66082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Career Architect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440" y="5733256"/>
            <a:ext cx="858403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Faculty Mentor: </a:t>
            </a:r>
            <a:r>
              <a:rPr lang="en-IN"/>
              <a:t>Dr. Feroz Ahmed</a:t>
            </a:r>
            <a:endParaRPr lang="en-IN"/>
          </a:p>
          <a:p>
            <a:r>
              <a:t>Department of Computer Science and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15370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Overview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8040" y="2060575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A local web app that analyzes resume text and suggests job roles.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6489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Compares a resume with an optional job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69209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Shows matched skills, missing skills, score, and role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72256"/>
            <a:ext cx="768096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Includes a resume builder with live preview and </a:t>
            </a:r>
            <a:r>
              <a:rPr lang="en-IN"/>
              <a:t>Dco,PDF,</a:t>
            </a:r>
            <a:r>
              <a:t>JSON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54323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Specific Objectives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 a dataset to support resume and job role matching.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Create useful APIs for analysis, metadata, and resume export.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Keep user resume text on the local machine</a:t>
            </a:r>
            <a:r>
              <a:rPr lang="en-IN"/>
              <a:t> that Improve Privacy</a:t>
            </a:r>
            <a: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Practice frontend, backend, validation, testing, and documentation.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Key Features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Resume Analysis</a:t>
            </a:r>
          </a:p>
          <a:p>
            <a:r>
              <a:t>Reads resume text and predicts a suitable role.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Job Matching</a:t>
            </a:r>
          </a:p>
          <a:p>
            <a:r>
              <a:t>Compares resume text with a job description.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Skill Gap Check</a:t>
            </a:r>
          </a:p>
          <a:p>
            <a:r>
              <a:t>Shows matched and missing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Resume Builder</a:t>
            </a:r>
          </a:p>
          <a:p>
            <a:r>
              <a:t>Creates a clean ATS friendly resume preview.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JSON Export</a:t>
            </a:r>
          </a:p>
          <a:p>
            <a:r>
              <a:t>Exports structured resume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Local Model</a:t>
            </a:r>
          </a:p>
          <a:p>
            <a:r>
              <a:t>Runs without paid external AI APIs.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244288"/>
            <a:ext cx="568863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Progress Summary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377423"/>
            <a:ext cx="896448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Detailed Progress – Development Phase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HTML: organized analyzer and builder sections with simple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CSS: added responsive layout, glass panels, borders, blur, and shadows.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JavaScript: connected forms, validation, API calls, preview, and export.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Node.js: served frontend files and handled JSON API routes.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Dataset: loaded training resumes, job roles, skills, and test samples.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4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Testing: checked analyzer, data parser, and validation functions.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Methodology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1</a:t>
            </a:r>
            <a:endParaRPr sz="1400"/>
          </a:p>
          <a:p>
            <a:r>
              <a:rPr sz="1400"/>
              <a:t>User enters resume text</a:t>
            </a:r>
            <a:endParaRPr sz="1400"/>
          </a:p>
        </p:txBody>
      </p:sp>
      <p:sp>
        <p:nvSpPr>
          <p:cNvPr id="11" name="Rounded Rectangle 10"/>
          <p:cNvSpPr/>
          <p:nvPr/>
        </p:nvSpPr>
        <p:spPr>
          <a:xfrm>
            <a:off x="2258568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2</a:t>
            </a:r>
            <a:endParaRPr sz="1400"/>
          </a:p>
          <a:p>
            <a:r>
              <a:rPr sz="1400"/>
              <a:t>Frontend sends data to API</a:t>
            </a:r>
            <a:endParaRPr sz="1400"/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034540"/>
            <a:ext cx="338328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31335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3</a:t>
            </a:r>
          </a:p>
          <a:p>
            <a:r>
              <a:rPr sz="1400"/>
              <a:t>Backend cleans and checks text</a:t>
            </a:r>
            <a:endParaRPr sz="1400"/>
          </a:p>
        </p:txBody>
      </p:sp>
      <p:cxnSp>
        <p:nvCxnSpPr>
          <p:cNvPr id="14" name="Connector 13"/>
          <p:cNvCxnSpPr/>
          <p:nvPr/>
        </p:nvCxnSpPr>
        <p:spPr>
          <a:xfrm>
            <a:off x="3493008" y="2034540"/>
            <a:ext cx="338327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04104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4</a:t>
            </a:r>
            <a:endParaRPr sz="1400"/>
          </a:p>
          <a:p>
            <a:r>
              <a:rPr sz="1400"/>
              <a:t>Analyzer finds skills and role match</a:t>
            </a:r>
            <a:endParaRPr sz="1400"/>
          </a:p>
        </p:txBody>
      </p:sp>
      <p:cxnSp>
        <p:nvCxnSpPr>
          <p:cNvPr id="16" name="Connector 15"/>
          <p:cNvCxnSpPr/>
          <p:nvPr/>
        </p:nvCxnSpPr>
        <p:spPr>
          <a:xfrm>
            <a:off x="5065775" y="2034540"/>
            <a:ext cx="338329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76872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5</a:t>
            </a:r>
            <a:endParaRPr sz="1400"/>
          </a:p>
          <a:p>
            <a:r>
              <a:rPr sz="1400"/>
              <a:t>Result is shown on the page</a:t>
            </a:r>
            <a:endParaRPr sz="1400"/>
          </a:p>
        </p:txBody>
      </p:sp>
      <p:cxnSp>
        <p:nvCxnSpPr>
          <p:cNvPr id="18" name="Connector 17"/>
          <p:cNvCxnSpPr/>
          <p:nvPr/>
        </p:nvCxnSpPr>
        <p:spPr>
          <a:xfrm>
            <a:off x="6638544" y="2034540"/>
            <a:ext cx="338328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333756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analyzer uses text cleaning, skill extraction, experience and education detection, and role profile comparison. The final score is based on skill coverage, text similarity, education, and experience.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Architecture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14" name="Ink 13"/>
              <p14:cNvContentPartPr/>
              <p14:nvPr/>
            </p14:nvContentPartPr>
            <p14:xfrm>
              <a:off x="6087360" y="2475240"/>
              <a:ext cx="646200" cy="333720"/>
            </p14:xfrm>
          </p:contentPart>
        </mc:Choice>
        <mc:Fallback xmlns="">
          <p:pic>
            <p:nvPicPr>
              <p:cNvPr id="14" name="Ink 13"/>
            </p:nvPicPr>
            <p:blipFill>
              <a:blip r:embed="rId4"/>
            </p:blipFill>
            <p:spPr>
              <a:xfrm>
                <a:off x="6087360" y="2475240"/>
                <a:ext cx="646200" cy="333720"/>
              </a:xfrm>
              <a:prstGeom prst="rect"/>
            </p:spPr>
          </p:pic>
        </mc:Fallback>
      </mc:AlternateContent>
      <p:sp>
        <p:nvSpPr>
          <p:cNvPr id="15" name="Rounded Rectangle 14"/>
          <p:cNvSpPr/>
          <p:nvPr/>
        </p:nvSpPr>
        <p:spPr>
          <a:xfrm>
            <a:off x="731520" y="1828800"/>
            <a:ext cx="18288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Frontend</a:t>
            </a:r>
          </a:p>
          <a:p>
            <a:r>
              <a:t>HTML + CSS + JavaScript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1828800"/>
            <a:ext cx="18288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Node.js Server</a:t>
            </a:r>
          </a:p>
          <a:p>
            <a:r>
              <a:t>API Routes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20574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Analyzer</a:t>
            </a:r>
          </a:p>
          <a:p>
            <a:r>
              <a:t>Scoring + Recommendations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20440"/>
            <a:ext cx="1828800" cy="8229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Dataset</a:t>
            </a:r>
          </a:p>
          <a:p>
            <a:r>
              <a:t>CSV + JSON files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60320" y="2286000"/>
            <a:ext cx="64008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29200" y="2286000"/>
            <a:ext cx="64008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14800" y="2743200"/>
            <a:ext cx="0" cy="77724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Flow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en-IN"/>
          </a:p>
        </p:txBody>
      </p:sp>
      <p:sp>
        <p:nvSpPr>
          <p:cNvPr id="10" name="Rounded Rectangle 9"/>
          <p:cNvSpPr/>
          <p:nvPr/>
        </p:nvSpPr>
        <p:spPr>
          <a:xfrm>
            <a:off x="5943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Open Web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Paste Resume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7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Click Analyze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290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949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700"/>
              <a:t>API Processes Text</a:t>
            </a:r>
            <a:endParaRPr sz="1700"/>
          </a:p>
        </p:txBody>
      </p:sp>
      <p:cxnSp>
        <p:nvCxnSpPr>
          <p:cNvPr id="16" name="Connector 15"/>
          <p:cNvCxnSpPr/>
          <p:nvPr/>
        </p:nvCxnSpPr>
        <p:spPr>
          <a:xfrm>
            <a:off x="50292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951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Show Result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365760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Resume Builder Flow: Enter details -&gt; Live preview -&gt; Copy text or download 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Timeline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11" name="Ink 10"/>
              <p14:cNvContentPartPr/>
              <p14:nvPr/>
            </p14:nvContentPartPr>
            <p14:xfrm>
              <a:off x="7203160" y="2489200"/>
              <a:ext cx="484560" cy="34920"/>
            </p14:xfrm>
          </p:contentPart>
        </mc:Choice>
        <mc:Fallback xmlns="">
          <p:pic>
            <p:nvPicPr>
              <p:cNvPr id="11" name="Ink 10"/>
            </p:nvPicPr>
            <p:blipFill>
              <a:blip r:embed="rId4"/>
            </p:blipFill>
            <p:spPr>
              <a:xfrm>
                <a:off x="7203160" y="2489200"/>
                <a:ext cx="484560" cy="34920"/>
              </a:xfrm>
              <a:prstGeom prst="rect"/>
            </p:spPr>
          </p:pic>
        </mc:Fallback>
      </mc:AlternateContent>
      <p:sp>
        <p:nvSpPr>
          <p:cNvPr id="12" name="Rounded Rectangle 11"/>
          <p:cNvSpPr/>
          <p:nvPr/>
        </p:nvSpPr>
        <p:spPr>
          <a:xfrm>
            <a:off x="640080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1</a:t>
            </a:r>
            <a:endParaRPr sz="1600"/>
          </a:p>
          <a:p>
            <a:r>
              <a:rPr sz="1600"/>
              <a:t>Understand problem and dataset</a:t>
            </a:r>
            <a:endParaRPr sz="1600"/>
          </a:p>
        </p:txBody>
      </p:sp>
      <p:sp>
        <p:nvSpPr>
          <p:cNvPr id="13" name="Rounded Rectangle 12"/>
          <p:cNvSpPr/>
          <p:nvPr/>
        </p:nvSpPr>
        <p:spPr>
          <a:xfrm>
            <a:off x="2212848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2</a:t>
            </a:r>
            <a:endParaRPr sz="1600"/>
          </a:p>
          <a:p>
            <a:r>
              <a:rPr sz="1600"/>
              <a:t>Build backend API and analyzer</a:t>
            </a:r>
            <a:endParaRPr sz="1600"/>
          </a:p>
        </p:txBody>
      </p:sp>
      <p:sp>
        <p:nvSpPr>
          <p:cNvPr id="14" name="Rounded Rectangle 13"/>
          <p:cNvSpPr/>
          <p:nvPr/>
        </p:nvSpPr>
        <p:spPr>
          <a:xfrm>
            <a:off x="3785615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3</a:t>
            </a:r>
            <a:endParaRPr sz="1600"/>
          </a:p>
          <a:p>
            <a:r>
              <a:rPr sz="1600"/>
              <a:t>Build frontend analyzer and builder</a:t>
            </a:r>
            <a:endParaRPr sz="1600"/>
          </a:p>
        </p:txBody>
      </p:sp>
      <p:sp>
        <p:nvSpPr>
          <p:cNvPr id="15" name="Rounded Rectangle 14"/>
          <p:cNvSpPr/>
          <p:nvPr/>
        </p:nvSpPr>
        <p:spPr>
          <a:xfrm>
            <a:off x="5358384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4</a:t>
            </a:r>
            <a:endParaRPr sz="1600"/>
          </a:p>
          <a:p>
            <a:r>
              <a:rPr sz="1600"/>
              <a:t>Simplify UI and documentation</a:t>
            </a:r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6931152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500"/>
              <a:t>Step 5</a:t>
            </a:r>
            <a:endParaRPr sz="1500"/>
          </a:p>
          <a:p>
            <a:r>
              <a:rPr sz="1500"/>
              <a:t>Test project and prepare report/presentation</a:t>
            </a:r>
            <a:endParaRPr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Data &amp; Resources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Training data: 10,000 synthetic resume examples.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Job roles: 324 role labels used for recommendations.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Skills list: used to find known technical and professional skills.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Test resumes: used for simple evaluation and smoke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Report and presentation templates: used for final project submission files.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976" y="-13692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1173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Use Cases &amp; Scope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Students can check whether their resume matches a target role.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Users can compare resume text with a job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Users can identify important missing skills.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Students can build a simple ATS friendly resume.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Scope is limited to guidance only, not final hiring decisions.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Expected Results &amp; Impact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A working local resume analyzer and resume builder.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Clear score, suggested roles, matched skills, and missing skills.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Simpler black and white interface suitable for student submission.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Better understanding of full stack web development.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All existing automated tests pass after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649641" y="2564775"/>
            <a:ext cx="5651034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>
                <a:latin typeface="Broadway" panose="04040905080B02020502" charset="0"/>
                <a:cs typeface="Broadway" panose="04040905080B02020502" charset="0"/>
              </a:rPr>
              <a:t>                         </a:t>
            </a:r>
            <a:r>
              <a:rPr lang="en-IN" sz="4800">
                <a:latin typeface="Broadway" panose="04040905080B02020502" charset="0"/>
                <a:cs typeface="Broadway" panose="04040905080B02020502" charset="0"/>
              </a:rPr>
              <a:t> </a:t>
            </a:r>
            <a:r>
              <a:rPr sz="4800" b="1">
                <a:solidFill>
                  <a:schemeClr val="tx2"/>
                </a:solidFill>
                <a:latin typeface="Broadway" panose="04040905080B02020502" charset="0"/>
                <a:cs typeface="Broadway" panose="04040905080B02020502" charset="0"/>
              </a:rPr>
              <a:t>THANK</a:t>
            </a:r>
            <a:r>
              <a:rPr sz="4800">
                <a:latin typeface="Broadway" panose="04040905080B02020502" charset="0"/>
                <a:cs typeface="Broadway" panose="04040905080B02020502" charset="0"/>
              </a:rPr>
              <a:t> </a:t>
            </a:r>
            <a:r>
              <a:rPr sz="4800" b="1">
                <a:solidFill>
                  <a:srgbClr val="FF0000"/>
                </a:solidFill>
                <a:latin typeface="Broadway" panose="04040905080B02020502" charset="0"/>
                <a:cs typeface="Broadway" panose="04040905080B02020502" charset="0"/>
              </a:rPr>
              <a:t>YOU</a:t>
            </a:r>
            <a:endParaRPr sz="4800" b="1">
              <a:solidFill>
                <a:srgbClr val="FF0000"/>
              </a:solidFill>
              <a:latin typeface="Broadway" panose="04040905080B02020502" charset="0"/>
              <a:cs typeface="Broadway" panose="04040905080B0202050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3386</Words>
  <Application>WPS Presentation</Application>
  <PresentationFormat>On-screen Show (4:3)</PresentationFormat>
  <Paragraphs>199</Paragraphs>
  <Slides>15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SimSun</vt:lpstr>
      <vt:lpstr>Wingdings</vt:lpstr>
      <vt:lpstr>Broadway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Arnav Kapil</cp:lastModifiedBy>
  <cp:revision>316</cp:revision>
  <cp:lastPrinted>2022-09-05T08:43:00Z</cp:lastPrinted>
  <dcterms:created xsi:type="dcterms:W3CDTF">2020-01-16T09:05:00Z</dcterms:created>
  <dcterms:modified xsi:type="dcterms:W3CDTF">2026-07-15T05:18:10Z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1033-12.1.0.27455</vt:lpwstr>
  </property>
  <property fmtid="{D5CDD505-2E9C-101B-9397-08002B2CF9AE}" pid="3" name="ICV">
    <vt:lpwstr>101F2C0E549E4F4BBCE3F12A638F1108_12</vt:lpwstr>
  </property>
</Properties>
</file>