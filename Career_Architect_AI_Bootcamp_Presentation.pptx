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ink/ink1.xml" ContentType="application/inkml+xml"/>
  <Override PartName="/ppt/ink/ink2.xml" ContentType="application/inkml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56" r:id="rId3"/>
    <p:sldId id="497" r:id="rId4"/>
    <p:sldId id="499" r:id="rId6"/>
    <p:sldId id="500" r:id="rId7"/>
    <p:sldId id="501" r:id="rId8"/>
    <p:sldId id="512" r:id="rId9"/>
    <p:sldId id="513" r:id="rId10"/>
    <p:sldId id="505" r:id="rId11"/>
    <p:sldId id="503" r:id="rId12"/>
    <p:sldId id="508" r:id="rId13"/>
    <p:sldId id="507" r:id="rId14"/>
    <p:sldId id="504" r:id="rId15"/>
    <p:sldId id="502" r:id="rId16"/>
    <p:sldId id="506" r:id="rId17"/>
    <p:sldId id="269" r:id="rId18"/>
  </p:sldIdLst>
  <p:sldSz cx="9144000" cy="6858000" type="screen4x3"/>
  <p:notesSz cx="6760845" cy="994219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0AA"/>
    <a:srgbClr val="0066B3"/>
    <a:srgbClr val="E31E24"/>
    <a:srgbClr val="006CB4"/>
    <a:srgbClr val="E830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9393" autoAdjust="0"/>
    <p:restoredTop sz="94681"/>
  </p:normalViewPr>
  <p:slideViewPr>
    <p:cSldViewPr showGuides="1">
      <p:cViewPr varScale="1">
        <p:scale>
          <a:sx n="83" d="100"/>
          <a:sy n="83" d="100"/>
        </p:scale>
        <p:origin x="893" y="72"/>
      </p:cViewPr>
      <p:guideLst>
        <p:guide orient="horz" pos="2160"/>
        <p:guide pos="2887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2147480000" min="-2147480000" units="cm"/>
          <inkml:channel name="Y" type="integer" max="2147480000" min="-2147480000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0T15:49:54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299.000 638.000 24575,'1.000'-13.000'0,"2.000"1.000"0,-1.000-1.000 0,2.000 1.000 0,0.000-1.000 0,0.000 1.000 0,1.000 0.000 0,0.000 0.000 0,1.000 1.000 0,12.000-18.000 0,-7.000 10.000 0,15.000-34.000 0,-25.000 51.000 0,-1.000 0.000 0,1.000 0.000 0,-1.000 1.000 0,1.000-1.000 0,-1.000 0.000 0,1.000 0.000 0,-1.000 0.000 0,0.000 0.000 0,0.000 0.000 0,0.000 0.000 0,-1.000-3.000 0,1.000 4.000 0,0.000 1.000 0,0.000-1.000 0,0.000 1.000 0,-1.000-1.000 0,1.000 1.000 0,0.000-1.000 0,-1.000 0.000 0,1.000 1.000 0,0.000-1.000 0,-1.000 1.000 0,1.000 0.000 0,-1.000-1.000 0,1.000 1.000 0,0.000-1.000 0,-1.000 1.000 0,0.000 0.000 0,1.000-1.000 0,-1.000 1.000 0,1.000 0.000 0,-1.000-1.000 0,1.000 1.000 0,-1.000 0.000 0,-1.000-1.000 0,0.000 1.000 0,-1.000 0.000 0,0.000 0.000 0,1.000 0.000 0,-1.000 1.000 0,0.000-1.000 0,1.000 1.000 0,-1.000-1.000 0,0.000 1.000 0,1.000 0.000 0,-1.000 0.000 0,1.000 0.000 0,-1.000 0.000 0,1.000 0.000 0,-4.000 3.000 0,-22.000 16.000 0,-46.000 41.000 0,-9.000 7.000 0,-17.000 16.000 0,87.000-77.000 0,6.000-10.000 0,7.000 1.000 0,-1.000 1.000 0,1.000 0.000 0,0.000 0.000 0,0.000 0.000 0,0.000-1.000 0,0.000 1.000 0,0.000 0.000 0,1.000 0.000 0,-1.000 0.000 0,0.000 0.000 0,0.000-1.000 0,1.000 1.000 0,-1.000 0.000 0,1.000 0.000 0,-1.000 0.000 0,1.000 0.000 0,-1.000 0.000 0,1.000 0.000 0,1.000-1.000 0,17.000-28.000 0,0.000 0.000 0,-2.000-1.000 0,-2.000-1.000 0,14.000-39.000 0,-27.000 67.000 0,-1.000-1.000 0,0.000 1.000 0,0.000-1.000 0,0.000 1.000 0,0.000-1.000 0,-1.000 0.000 0,0.000 1.000 0,0.000-9.000 0,0.000 11.000 0,-1.000 0.000 0,1.000 0.000 0,-1.000 1.000 0,0.000-1.000 0,0.000 0.000 0,1.000 1.000 0,-1.000-1.000 0,0.000 0.000 0,0.000 1.000 0,-1.000-1.000 0,1.000 1.000 0,0.000 0.000 0,0.000-1.000 0,-1.000 1.000 0,1.000 0.000 0,-1.000 0.000 0,1.000 0.000 0,-1.000 0.000 0,1.000 0.000 0,-1.000 0.000 0,0.000 0.000 0,1.000 0.000 0,-1.000 1.000 0,-2.000-2.000 0,1.000 2.000 0,0.000-1.000 0,1.000-1.000 0,-1.000 1.000 0,1.000 0.000 0,-1.000-1.000 0,1.000 1.000 0,0.000-1.000 0,0.000 0.000 0,0.000 0.000 0,0.000 0.000 0,0.000 0.000 0,0.000 0.000 0,0.000 0.000 0,1.000 0.000 0,-1.000-1.000 0,1.000 1.000 0,-3.000-5.000 0,2.000 3.000 0,0.000 0.000 0,0.000 0.000 0,-1.000 1.000 0,1.000 0.000 0,-1.000-1.000 0,-5.000-4.000 0,-15.000-3.000 0,21.000 11.000 0,1.000 0.000 0,0.000-1.000 0,0.000 1.000 0,0.000 0.000 0,-1.000-1.000 0,1.000 1.000 0,0.000-1.000 0,0.000 1.000 0,0.000-1.000 0,0.000 1.000 0,0.000-1.000 0,0.000 0.000 0,0.000 1.000 0,0.000-1.000 0,0.000 0.000 0,0.000 0.000 0,0.000 0.000 0,1.000 0.000 0,-1.000 0.000 0,0.000 0.000 0,0.000 0.000 0,1.000 0.000 0,-1.000 0.000 0,1.000 0.000 0,-1.000 0.000 0,1.000 0.000 0,0.000-1.000 0,-1.000 1.000 0,1.000 0.000 0,0.000 0.000 0,0.000 0.000 0,0.000-3.000 0,-1.000 0.000 0,0.000 1.000 0,1.000-1.000 0,0.000 0.000 0,0.000 0.000 0,0.000 0.000 0,1.000 1.000 0,-1.000-1.000 0,1.000 0.000 0,0.000 0.000 0,0.000 1.000 0,0.000-1.000 0,0.000 1.000 0,1.000-1.000 0,-1.000 1.000 0,1.000-1.000 0,0.000 1.000 0,0.000 0.000 0,0.000 0.000 0,1.000 0.000 0,-1.000 0.000 0,1.000 0.000 0,0.000 0.000 0,-1.000 1.000 0,1.000-1.000 0,0.000 1.000 0,0.000 0.000 0,1.000 0.000 0,-1.000 0.000 0,0.000 0.000 0,1.000 1.000 0,-1.000-1.000 0,1.000 1.000 0,0.000 0.000 0,-1.000 0.000 0,1.000 0.000 0,0.000 1.000 0,0.000-1.000 0,-1.000 1.000 0,1.000 0.000 0,0.000 0.000 0,0.000 0.000 0,0.000 0.000 0,-1.000 1.000 0,8.000 1.000 0,4.000 4.000 0,0.000 0.000 0,0.000 1.000 0,-1.000 0.000 0,25.000 17.000 0,13.000 7.000 0,-36.000-22.000 0,0.000-2.000 0,0.000 0.000 0,1.000-1.000 0,0.000-1.000 0,0.000-1.000 0,27.000 4.000 0,-39.000-7.000 0,0.000 0.000 0,0.000-1.000 0,0.000 0.000 0,-1.000 0.000 0,1.000 0.000 0,0.000-1.000 0,0.000 0.000 0,0.000 0.000 0,-1.000 0.000 0,1.000 0.000 0,0.000-1.000 0,-1.000 1.000 0,1.000-1.000 0,-1.000 0.000 0,0.000-1.000 0,1.000 1.000 0,-1.000-1.000 0,0.000 0.000 0,-1.000 0.000 0,1.000 0.000 0,0.000 0.000 0,-1.000-1.000 0,0.000 0.000 0,0.000 1.000 0,0.000-1.000 0,0.000 0.000 0,-1.000-1.000 0,4.000-5.000 0,2.000-15.000 0,-5.000 15.000 0,1.000 0.000 0,-1.000 0.000 0,2.000 0.000 0,7.000-13.000 0,-11.000 22.000 0,-1.000 0.000 0,1.000-1.000 0,0.000 1.000 0,0.000 0.000 0,0.000 0.000 0,-1.000 0.000 0,1.000 0.000 0,1.000 0.000 0,-1.000 0.000 0,0.000 0.000 0,0.000 1.000 0,0.000-1.000 0,0.000 0.000 0,0.000 1.000 0,1.000-1.000 0,-1.000 0.000 0,0.000 1.000 0,1.000 0.000 0,-1.000-1.000 0,0.000 1.000 0,1.000 0.000 0,-1.000-1.000 0,0.000 1.000 0,1.000 0.000 0,-1.000 0.000 0,1.000 0.000 0,-1.000 0.000 0,0.000 1.000 0,1.000-1.000 0,-1.000 0.000 0,1.000 1.000 0,-1.000-1.000 0,0.000 0.000 0,0.000 1.000 0,1.000 0.000 0,-1.000-1.000 0,0.000 1.000 0,0.000 0.000 0,2.000 1.000 0,2.000 3.000 0,-1.000-1.000 0,-1.000 1.000 0,1.000 0.000 0,-1.000 1.000 0,0.000-1.000 0,0.000 0.000 0,0.000 1.000 0,-1.000 0.000 0,1.000-1.000 0,-2.000 1.000 0,1.000 0.000 0,1.000 7.000 0,10.000 26.000 0,-9.000-31.000 0,1.000 0.000 0,0.000 0.000 0,0.000-1.000 0,1.000 0.000 0,0.000 0.000 0,1.000 0.000 0,-1.000 0.000 0,1.000-1.000 0,1.000-1.000 0,-1.000 1.000 0,1.000-1.000 0,12.000 7.000 0,-7.000-6.000 0,-1.000 0.000 0,1.000-1.000 0,0.000 0.000 0,0.000-1.000 0,0.000-1.000 0,1.000 0.000 0,24.000 2.000 0,-34.000-5.000 0,0.000 0.000 0,0.000 0.000 0,0.000-1.000 0,0.000 0.000 0,0.000 0.000 0,-1.000 0.000 0,1.000 0.000 0,0.000 0.000 0,0.000-1.000 0,-1.000 0.000 0,1.000 0.000 0,-1.000 0.000 0,5.000-3.000 0,43.000-41.000 0,-9.000 8.000 0,9.000 4.000 0,2.000 3.000 0,1.000 2.000 0,66.000-25.000 0,-98.000 46.000 0,1.000 2.000 0,0.000 1.000 0,0.000 0.000 0,0.000 2.000 0,43.000-1.000 0,26.000-3.000 0,-55.000 3.000 0,37.000 2.000 0,11.000-1.000 0,-73.000 0.000 0,-15.000-2.000 0,-21.000-2.000 0,-2.000 3.000 0,0.000 2.000 0,-1.000 1.000 0,1.000 1.000 0,0.000 1.000 0,0.000 1.000 0,0.000 2.000 0,0.000 0.000 0,1.000 2.000 0,-1.000 0.000 0,1.000 2.000 0,-41.000 19.000 0,61.000-24.000 0,-1.000 0.000 0,1.000-1.000 0,-1.000 1.000 0,0.000-1.000 0,0.000 0.000 0,0.000-1.000 0,-1.000 0.000 0,1.000 0.000 0,0.000 0.000 0,0.000-1.000 0,0.000 1.000 0,-1.000-2.000 0,1.000 1.000 0,0.000-1.000 0,0.000 0.000 0,-1.000 0.000 0,1.000 0.000 0,0.000-1.000 0,0.000 0.000 0,0.000 0.000 0,1.000-1.000 0,-1.000 1.000 0,1.000-1.000 0,-1.000-1.000 0,1.000 1.000 0,0.000-1.000 0,-7.000-6.000 0,5.000 4.000 0,0.000 0.000 0,-1.000 0.000 0,0.000 0.000 0,0.000 1.000 0,0.000 0.000 0,-1.000 1.000 0,0.000 0.000 0,1.000 0.000 0,-2.000 1.000 0,1.000 0.000 0,0.000 0.000 0,-1.000 1.000 0,1.000 0.000 0,-1.000 1.000 0,1.000 0.000 0,-16.000 1.000 0,2.000 1.000 0,1.000 0.000 0,0.000 2.000 0,0.000 0.000 0,0.000 1.000 0,-35.000 13.000 0,32.000-9.000 0,17.000-6.000 0,-1.000 0.000 0,0.000 1.000 0,1.000 0.000 0,0.000 1.000 0,0.000-1.000 0,0.000 2.000 0,0.000-1.000 0,0.000 1.000 0,1.000 0.000 0,0.000 1.000 0,0.000 0.000 0,-9.000 10.000 0,-2.000 9.000 0,1.000 1.000 0,1.000 0.000 0,1.000 2.000 0,-21.000 53.000 0,-129.000 245.000 0,132.000-268.000 0,-71.000 116.000 0,88.000-149.000 0,15.000-23.000 0,-1.000-1.000 0,1.000 1.000 0,0.000 0.000 0,0.000 0.000 0,0.000 0.000 0,0.000 0.000 0,1.000 0.000 0,-1.000 1.000 0,0.000-1.000 0,1.000 0.000 0,-1.000 0.000 0,1.000 0.000 0,0.000 1.000 0,0.000-1.000 0,0.000 0.000 0,0.000 3.000 0,1.000-4.000 0,-1.000-1.000 0,0.000 1.000 0,0.000 0.000 0,1.000-1.000 0,-1.000 1.000 0,0.000-1.000 0,1.000 1.000 0,-1.000-1.000 0,0.000 0.000 0,1.000 1.000 0,-1.000-1.000 0,1.000 1.000 0,-1.000-1.000 0,1.000 0.000 0,-1.000 1.000 0,1.000-1.000 0,-1.000 0.000 0,1.000 1.000 0,0.000-1.000 0,-1.000 0.000 0,2.000 1.000 0,21.000-3.000 0,-11.000-2.000 0,0.000-1.000 0,0.000 0.000 0,-1.000-1.000 0,0.000 0.000 0,0.000 0.000 0,0.000-1.000 0,18.000-17.000 0,61.000-66.000 0,-65.000 58.000 0,-2.000 0.000 0,-1.000-2.000 0,23.000-46.000 0,10.000-16.000 0,-16.000 26.000 0,-26.000 45.000 0,1.000 1.000 0,27.000-37.000 0,-39.000 58.000 0,1.000 0.000 0,-1.000 1.000 0,0.000-1.000 0,1.000 1.000 0,-1.000 0.000 0,1.000-1.000 0,0.000 1.000 0,0.000 1.000 0,0.000-1.000 0,0.000 0.000 0,0.000 1.000 0,0.000-1.000 0,0.000 1.000 0,1.000 0.000 0,-1.000 0.000 0,0.000 1.000 0,1.000-1.000 0,-1.000 0.000 0,0.000 1.000 0,1.000 0.000 0,-1.000 0.000 0,1.000 0.000 0,-1.000 0.000 0,0.000 1.000 0,1.000-1.000 0,-1.000 1.000 0,1.000 0.000 0,-1.000 0.000 0,0.000 0.000 0,0.000 0.000 0,0.000 1.000 0,0.000-1.000 0,0.000 1.000 0,0.000 0.000 0,0.000 0.000 0,0.000 0.000 0,0.000 0.000 0,-1.000 0.000 0,1.000 1.000 0,-1.000-1.000 0,0.000 1.000 0,0.000 0.000 0,0.000-1.000 0,0.000 1.000 0,0.000 0.000 0,-1.000 0.000 0,1.000 0.000 0,-1.000 1.000 0,0.000-1.000 0,1.000 0.000 0,0.000 7.000 0,1.000 35.000 0,-1.000 1.000 0,-8.000 77.000 0,5.000-120.000 0,0.000 10.000 0,-1.000 1.000 0,-1.000-1.000 0,0.000 0.000 0,-1.000 0.000 0,0.000-1.000 0,-1.000 1.000 0,0.000-1.000 0,-1.000 0.000 0,0.000 0.000 0,-1.000-1.000 0,-12.000 15.000 0,13.000-17.000 0,1.000-1.000 0,0.000 0.000 0,1.000 1.000 0,0.000 0.000 0,0.000 0.000 0,1.000 1.000 0,0.000-1.000 0,1.000 1.000 0,0.000-1.000 0,-2.000 18.000 0,4.000-27.000 0,0.000 0.000 0,0.000 0.000 0,0.000 0.000 0,0.000 1.000 0,0.000-1.000 0,0.000 0.000 0,0.000 0.000 0,0.000 0.000 0,0.000 0.000 0,0.000 0.000 0,0.000 0.000 0,0.000 0.000 0,0.000 1.000 0,0.000-1.000 0,0.000 0.000 0,0.000 0.000 0,0.000 0.000 0,0.000 0.000 0,0.000 0.000 0,0.000 0.000 0,0.000 0.000 0,0.000 0.000 0,0.000 1.000 0,0.000-1.000 0,0.000 0.000 0,0.000 0.000 0,0.000 0.000 0,0.000 0.000 0,0.000 0.000 0,0.000 0.000 0,0.000 0.000 0,1.000 0.000 0,-1.000 0.000 0,0.000 1.000 0,0.000-1.000 0,0.000 0.000 0,0.000 0.000 0,0.000 0.000 0,0.000 0.000 0,0.000 0.000 0,0.000 0.000 0,0.000 0.000 0,1.000 0.000 0,-1.000 0.000 0,0.000 0.000 0,0.000 0.000 0,0.000 0.000 0,0.000 0.000 0,0.000 0.000 0,0.000 0.000 0,0.000 0.000 0,1.000 0.000 0,-1.000 0.000 0,0.000 0.000 0,0.000 0.000 0,0.000 0.000 0,0.000 0.000 0,0.000 0.000 0,0.000 0.000 0,0.000 0.000 0,0.000 0.000 0,1.000 0.000 0,-1.000 0.000 0,7.000-9.000 0,7.000-14.000 0,41.000-109.000 0,31.000-60.000 0,-60.000 137.000 0,10.000-19.000 0,-31.000 66.000 0,-1.000 1.000 0,1.000 0.000 0,0.000 0.000 0,1.000 0.000 0,0.000 1.000 0,12.000-11.000 0,-18.000 16.000 0,1.000 0.000 0,0.000 0.000 0,0.000 1.000 0,-1.000-1.000 0,1.000 1.000 0,0.000-1.000 0,0.000 1.000 0,0.000-1.000 0,0.000 1.000 0,0.000-1.000 0,0.000 1.000 0,0.000 0.000 0,0.000 0.000 0,0.000-1.000 0,0.000 1.000 0,0.000 0.000 0,0.000 0.000 0,0.000 0.000 0,0.000 0.000 0,0.000 0.000 0,0.000 0.000 0,0.000 0.000 0,0.000 1.000 0,0.000-1.000 0,0.000 0.000 0,0.000 1.000 0,0.000-1.000 0,0.000 0.000 0,0.000 1.000 0,1.000 0.000 0,0.000 1.000 0,0.000 0.000 0,0.000 0.000 0,0.000 1.000 0,-1.000-1.000 0,1.000 0.000 0,-1.000 1.000 0,1.000-1.000 0,-1.000 1.000 0,0.000-1.000 0,0.000 1.000 0,1.000 3.000 0,2.000 9.000 0,0.000 0.000 0,2.000 31.000 0,-3.000 36.000 0,-15.000 161.000 0,1.000-81.000 0,14.000-131.000 0,1.000-27.000 0,1.000-19.000 0,4.000-49.000 0,-6.000 43.000 0,0.000-1.000 0,1.000 0.000 0,1.000 1.000 0,0.000 0.000 0,2.000 0.000 0,1.000 1.000 0,11.000-23.000 0,-3.000 18.000 0,1.000 0.000 0,39.000-44.000 0,-46.000 56.000 0,-6.000 9.000 0,-1.000-1.000 0,1.000 1.000 0,0.000-1.000 0,0.000 1.000 0,0.000 0.000 0,6.000-4.000 0,-9.000 8.000 0,0.000-1.000 0,0.000 1.000 0,0.000 0.000 0,0.000-1.000 0,0.000 1.000 0,0.000 0.000 0,0.000 0.000 0,0.000-1.000 0,0.000 1.000 0,0.000 0.000 0,0.000 0.000 0,0.000 0.000 0,0.000 0.000 0,0.000 1.000 0,0.000-1.000 0,0.000 0.000 0,0.000 0.000 0,0.000 1.000 0,0.000-1.000 0,0.000 0.000 0,0.000 1.000 0,0.000-1.000 0,0.000 1.000 0,0.000-1.000 0,0.000 1.000 0,-1.000-1.000 0,1.000 1.000 0,0.000 0.000 0,0.000 0.000 0,-1.000-1.000 0,1.000 1.000 0,0.000 0.000 0,-1.000 0.000 0,1.000 0.000 0,-1.000 0.000 0,1.000-1.000 0,-1.000 1.000 0,1.000 0.000 0,-1.000 0.000 0,0.000 0.000 0,1.000 2.000 0,6.000 19.000 0,0.000-1.000 0,-2.000 2.000 0,0.000-1.000 0,-1.000 0.000 0,0.000 43.000 0,-3.000 54.000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2147480000" min="-2147480000" units="cm"/>
          <inkml:channel name="Y" type="integer" max="2147480000" min="-2147480000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0T15:54:58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1.000 0.000 24575,'50.000'2.000'0,"58.000"11.000"0,47.000 1.000 0,-132.000-12.000 0,0.000 0.000 0,31.000 8.000 0,-30.000-5.000 0,48.000 4.000 0,-32.000-6.000 0,41.000 8.000 0,-43.000-5.000 0,57.000 2.000 0,-85.000-7.000 0,1.000-1.000 0,-1.000-1.000 0,1.000 0.000 0,-1.000 0.000 0,1.000-1.000 0,-1.000 0.000 0,0.000-1.000 0,0.000 0.000 0,0.000-1.000 0,17.000-8.000 0,-13.000 5.000 0,-1.000 2.000 0,1.000 0.000 0,1.000 0.000 0,-1.000 1.000 0,1.000 1.000 0,-1.000 1.000 0,1.000 0.000 0,0.000 1.000 0,0.000 0.000 0,26.000 3.000 0,-13.000 1.000 0,0.000 1.000 0,-1.000 1.000 0,1.000 2.000 0,45.000 17.000 0,-40.000-14.000 291,-25.000-8.000-622,0.000 1.000 0,0.000-1.000-1,0.000 2.000 1,10.000 4.000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29837" cy="49885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29761" y="0"/>
            <a:ext cx="2929837" cy="49885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668431-CD35-4516-818D-B41B2C4843CF}" type="datetimeFigureOut">
              <a:rPr lang="en-IN" smtClean="0"/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4588" y="1243013"/>
            <a:ext cx="4471987" cy="33559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3662"/>
            <a:ext cx="2929837" cy="49885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B949B3-C4AB-4FB2-8B24-B07A558BD59F}" type="slidenum">
              <a:rPr lang="en-IN" smtClean="0"/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AA89A1-F17A-4D3D-AC08-D16056C16514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21C46D-3F04-4F73-BF36-E6D9DA5AE143}" type="slidenum">
              <a:rPr lang="en-IN" smtClean="0"/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7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8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5.png"/><Relationship Id="rId3" Type="http://schemas.openxmlformats.org/officeDocument/2006/relationships/customXml" Target="../ink/ink1.xml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0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6.png"/><Relationship Id="rId3" Type="http://schemas.openxmlformats.org/officeDocument/2006/relationships/customXml" Target="../ink/ink2.xml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1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2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3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PPT Admission Drive 2021-22-final-2_Page_01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03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325880"/>
            <a:ext cx="768096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  <p:transition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4260" y="-27384"/>
            <a:ext cx="9180512" cy="6885384"/>
          </a:xfrm>
        </p:spPr>
      </p:pic>
      <p:cxnSp>
        <p:nvCxnSpPr>
          <p:cNvPr id="11" name="Straight Connector 10"/>
          <p:cNvCxnSpPr/>
          <p:nvPr/>
        </p:nvCxnSpPr>
        <p:spPr>
          <a:xfrm>
            <a:off x="1565174" y="2204864"/>
            <a:ext cx="630654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0382" y="150274"/>
            <a:ext cx="6396065" cy="920873"/>
          </a:xfrm>
          <a:prstGeom prst="rect">
            <a:avLst/>
          </a:prstGeom>
        </p:spPr>
      </p:pic>
      <p:graphicFrame>
        <p:nvGraphicFramePr>
          <p:cNvPr id="2" name="Table 2"/>
          <p:cNvGraphicFramePr>
            <a:graphicFrameLocks noGrp="1"/>
          </p:cNvGraphicFramePr>
          <p:nvPr/>
        </p:nvGraphicFramePr>
        <p:xfrm>
          <a:off x="1670685" y="3505200"/>
          <a:ext cx="60960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/>
                <a:gridCol w="3048000"/>
              </a:tblGrid>
              <a:tr h="438150">
                <a:tc>
                  <a:txBody>
                    <a:bodyPr/>
                    <a:lstStyle/>
                    <a:p>
                      <a:r>
                        <a:rPr lang="en-IN"/>
                        <a:t>Name</a:t>
                      </a:r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IN"/>
                        <a:t>Roll.no</a:t>
                      </a:r>
                      <a:endParaRPr lang="en-IN"/>
                    </a:p>
                  </a:txBody>
                  <a:tcPr/>
                </a:tc>
              </a:tr>
              <a:tr h="438150">
                <a:tc>
                  <a:txBody>
                    <a:bodyPr/>
                    <a:lstStyle/>
                    <a:p>
                      <a:r>
                        <a:rPr lang="en-IN"/>
                        <a:t>Arnav Kapil</a:t>
                      </a:r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IN"/>
                        <a:t>2501730045</a:t>
                      </a:r>
                      <a:endParaRPr lang="en-IN"/>
                    </a:p>
                  </a:txBody>
                  <a:tcPr anchor="ctr"/>
                </a:tc>
              </a:tr>
              <a:tr h="438150">
                <a:tc>
                  <a:txBody>
                    <a:bodyPr/>
                    <a:p>
                      <a:pPr>
                        <a:buNone/>
                      </a:pPr>
                      <a:r>
                        <a:rPr lang="en-IN"/>
                        <a:t>Madhur Mangla</a:t>
                      </a:r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IN"/>
                        <a:t>2501350087</a:t>
                      </a:r>
                      <a:endParaRPr lang="en-IN"/>
                    </a:p>
                  </a:txBody>
                  <a:tcPr anchor="ctr"/>
                </a:tc>
              </a:tr>
              <a:tr h="438150">
                <a:tc>
                  <a:txBody>
                    <a:bodyPr/>
                    <a:lstStyle/>
                    <a:p>
                      <a:r>
                        <a:rPr lang="en-IN"/>
                        <a:t>Hemant Singh Sehrawat</a:t>
                      </a:r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IN"/>
                        <a:t>2501730324</a:t>
                      </a:r>
                      <a:endParaRPr lang="en-IN"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414310" y="1372508"/>
            <a:ext cx="660827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Career Architect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6440" y="5733256"/>
            <a:ext cx="8584032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Faculty Mentor: </a:t>
            </a:r>
            <a:r>
              <a:rPr lang="en-IN"/>
              <a:t>Dr. Feroz Ahmed</a:t>
            </a:r>
            <a:endParaRPr lang="en-IN"/>
          </a:p>
          <a:p>
            <a:r>
              <a:t>Department of Computer Science and Engineering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1619250" y="2381250"/>
            <a:ext cx="5837555" cy="4806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IN" altLang="en-US" sz="2400" b="1">
                <a:solidFill>
                  <a:srgbClr val="006CB4"/>
                </a:solidFill>
                <a:uFill>
                  <a:solidFill>
                    <a:srgbClr val="E83030"/>
                  </a:solidFill>
                </a:uFill>
              </a:rPr>
              <a:t>FIRST YEAR</a:t>
            </a:r>
            <a:endParaRPr lang="en-IN" altLang="en-US" sz="2400" b="1">
              <a:solidFill>
                <a:srgbClr val="006CB4"/>
              </a:solidFill>
              <a:uFill>
                <a:solidFill>
                  <a:srgbClr val="E83030"/>
                </a:solidFill>
              </a:uFill>
            </a:endParaRPr>
          </a:p>
          <a:p>
            <a:r>
              <a:rPr lang="en-IN" altLang="en-US" sz="2400" b="1">
                <a:solidFill>
                  <a:srgbClr val="006CB4"/>
                </a:solidFill>
                <a:uFill>
                  <a:solidFill>
                    <a:srgbClr val="E83030"/>
                  </a:solidFill>
                </a:uFill>
              </a:rPr>
              <a:t>SUBMITED BY:</a:t>
            </a:r>
            <a:endParaRPr lang="en-IN" altLang="en-US" sz="2400" b="1">
              <a:solidFill>
                <a:srgbClr val="006CB4"/>
              </a:solidFill>
              <a:uFill>
                <a:solidFill>
                  <a:srgbClr val="E83030"/>
                </a:solidFill>
              </a:u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79512" y="151593"/>
            <a:ext cx="4153701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r>
              <a:t>Project Overview</a:t>
            </a: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2" name="Text Box 1"/>
          <p:cNvSpPr txBox="1"/>
          <p:nvPr/>
        </p:nvSpPr>
        <p:spPr>
          <a:xfrm>
            <a:off x="569595" y="1518285"/>
            <a:ext cx="7602855" cy="5334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IN" altLang="en-US"/>
              <a:t>-</a:t>
            </a:r>
            <a:r>
              <a:rPr lang="en-US" altLang="en-US"/>
              <a:t>Career Architect AI is a local web-based resume analyzer and resume builder</a:t>
            </a:r>
            <a:endParaRPr lang="en-US"/>
          </a:p>
        </p:txBody>
      </p:sp>
      <p:sp>
        <p:nvSpPr>
          <p:cNvPr id="3" name="Text Box 2"/>
          <p:cNvSpPr txBox="1"/>
          <p:nvPr/>
        </p:nvSpPr>
        <p:spPr>
          <a:xfrm>
            <a:off x="569595" y="2132330"/>
            <a:ext cx="7360920" cy="5048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IN" altLang="en-US"/>
              <a:t>-</a:t>
            </a:r>
            <a:r>
              <a:rPr lang="en-US" altLang="en-US"/>
              <a:t>It helps users compare resumes with job descriptions and identify skill gaps.</a:t>
            </a:r>
            <a:endParaRPr lang="en-US" altLang="en-US"/>
          </a:p>
          <a:p>
            <a:endParaRPr lang="en-US" altLang="en-US"/>
          </a:p>
        </p:txBody>
      </p:sp>
      <p:sp>
        <p:nvSpPr>
          <p:cNvPr id="6" name="Text Box 5"/>
          <p:cNvSpPr txBox="1"/>
          <p:nvPr/>
        </p:nvSpPr>
        <p:spPr>
          <a:xfrm>
            <a:off x="569595" y="2708910"/>
            <a:ext cx="7496175" cy="5054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IN" altLang="en-US"/>
              <a:t>-</a:t>
            </a:r>
            <a:r>
              <a:rPr lang="en-US" altLang="en-US"/>
              <a:t>The system predicts suitable job roles and gives an explainable match score.</a:t>
            </a:r>
            <a:endParaRPr lang="en-US" altLang="en-US"/>
          </a:p>
        </p:txBody>
      </p:sp>
      <p:sp>
        <p:nvSpPr>
          <p:cNvPr id="8" name="Text Box 7"/>
          <p:cNvSpPr txBox="1"/>
          <p:nvPr/>
        </p:nvSpPr>
        <p:spPr>
          <a:xfrm>
            <a:off x="569595" y="3286125"/>
            <a:ext cx="7613650" cy="57467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IN" altLang="en-US"/>
              <a:t>-</a:t>
            </a:r>
            <a:r>
              <a:rPr lang="en-US" altLang="en-US"/>
              <a:t>It also lets users create ATS-friendly resumes and export them as PDF, DOC, or JSON.</a:t>
            </a:r>
            <a:endParaRPr lang="en-US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79512" y="151593"/>
            <a:ext cx="4543231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r>
              <a:t>Specific Objectives</a:t>
            </a: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9512" y="1293834"/>
            <a:ext cx="8784976" cy="372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856232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Use a dataset to support resume and job role matching.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386584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Create useful APIs for analysis, metadata, and resume export.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916936"/>
            <a:ext cx="768096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Keep user resume text on the local machine</a:t>
            </a:r>
            <a:r>
              <a:rPr lang="en-IN"/>
              <a:t> that Improve Privacy</a:t>
            </a:r>
            <a: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447288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Practice frontend, backend, validation, testing, and documentation.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79512" y="151593"/>
            <a:ext cx="4392488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r>
              <a:t>Key Features</a:t>
            </a: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9512" y="1293834"/>
            <a:ext cx="8784976" cy="372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417320"/>
            <a:ext cx="2148840" cy="114300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t>Resume Analysis</a:t>
            </a:r>
          </a:p>
          <a:p>
            <a:r>
              <a:t>Reads resume text and predicts a suitable role.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417320"/>
            <a:ext cx="2148840" cy="114300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t>Job Matching</a:t>
            </a:r>
          </a:p>
          <a:p>
            <a:r>
              <a:t>Compares resume text with a job description.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89320" y="1417320"/>
            <a:ext cx="2148840" cy="114300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t>Skill Gap Check</a:t>
            </a:r>
          </a:p>
          <a:p>
            <a:r>
              <a:t>Shows matched and missing skills.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017520"/>
            <a:ext cx="2148840" cy="114300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t>Resume Builder</a:t>
            </a:r>
          </a:p>
          <a:p>
            <a:r>
              <a:t>Creates a clean ATS friendly resume preview.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7560" y="3017520"/>
            <a:ext cx="2148840" cy="114300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t>JSON Export</a:t>
            </a:r>
          </a:p>
          <a:p>
            <a:r>
              <a:t>Exports structured resume data.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3017520"/>
            <a:ext cx="2148840" cy="114300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t>Local Model</a:t>
            </a:r>
          </a:p>
          <a:p>
            <a:r>
              <a:t>Runs without paid external AI APIs.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-27305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79512" y="244288"/>
            <a:ext cx="5688632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r>
              <a:t>Progress Summary</a:t>
            </a: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9512" y="1293834"/>
            <a:ext cx="8784976" cy="372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 </a:t>
            </a:r>
          </a:p>
        </p:txBody>
      </p:sp>
      <p:sp>
        <p:nvSpPr>
          <p:cNvPr id="2" name="Text Box 1"/>
          <p:cNvSpPr txBox="1"/>
          <p:nvPr/>
        </p:nvSpPr>
        <p:spPr>
          <a:xfrm>
            <a:off x="467995" y="1628775"/>
            <a:ext cx="7723505" cy="5581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IN" altLang="en-US"/>
              <a:t>-</a:t>
            </a:r>
            <a:r>
              <a:rPr lang="en-US" altLang="en-US"/>
              <a:t>Career Architect AI is a local resume analysis and resume-building web app.</a:t>
            </a:r>
            <a:endParaRPr lang="en-US" altLang="en-US"/>
          </a:p>
        </p:txBody>
      </p:sp>
      <p:sp>
        <p:nvSpPr>
          <p:cNvPr id="3" name="Text Box 2"/>
          <p:cNvSpPr txBox="1"/>
          <p:nvPr/>
        </p:nvSpPr>
        <p:spPr>
          <a:xfrm>
            <a:off x="467995" y="2131695"/>
            <a:ext cx="7776845" cy="4870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IN" altLang="en-US"/>
              <a:t>-</a:t>
            </a:r>
            <a:r>
              <a:rPr lang="en-US" altLang="en-US"/>
              <a:t>It compares resumes with job descriptions and shows matched and missing skills.</a:t>
            </a:r>
            <a:endParaRPr lang="en-US" altLang="en-US"/>
          </a:p>
        </p:txBody>
      </p:sp>
      <p:sp>
        <p:nvSpPr>
          <p:cNvPr id="8" name="Text Box 7"/>
          <p:cNvSpPr txBox="1"/>
          <p:nvPr/>
        </p:nvSpPr>
        <p:spPr>
          <a:xfrm>
            <a:off x="467995" y="2753995"/>
            <a:ext cx="7589520" cy="5683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IN" altLang="en-US"/>
              <a:t>-</a:t>
            </a:r>
            <a:r>
              <a:rPr lang="en-US" altLang="en-US"/>
              <a:t>It predicts suitable job roles and gives an explainable score for fit.</a:t>
            </a:r>
            <a:endParaRPr lang="en-US"/>
          </a:p>
        </p:txBody>
      </p:sp>
      <p:sp>
        <p:nvSpPr>
          <p:cNvPr id="10" name="Text Box 9"/>
          <p:cNvSpPr txBox="1"/>
          <p:nvPr/>
        </p:nvSpPr>
        <p:spPr>
          <a:xfrm>
            <a:off x="467995" y="3429000"/>
            <a:ext cx="7454265" cy="5149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IN" altLang="en-US"/>
              <a:t>-</a:t>
            </a:r>
            <a:r>
              <a:rPr lang="en-US" altLang="en-US"/>
              <a:t>It also helps users build ATS-friendly resumes and export them as PDF, DOC, or JSON.</a:t>
            </a:r>
            <a:endParaRPr lang="en-US" altLang="en-US"/>
          </a:p>
        </p:txBody>
      </p:sp>
      <p:sp>
        <p:nvSpPr>
          <p:cNvPr id="11" name="Text Box 10"/>
          <p:cNvSpPr txBox="1"/>
          <p:nvPr/>
        </p:nvSpPr>
        <p:spPr>
          <a:xfrm>
            <a:off x="467995" y="4161155"/>
            <a:ext cx="7176135" cy="6064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IN" altLang="en-US"/>
              <a:t>-T</a:t>
            </a:r>
            <a:r>
              <a:rPr lang="en-US" altLang="en-US"/>
              <a:t>he project is built with HTML, CSS, JavaScript, and a simple Node.js backend.</a:t>
            </a:r>
            <a:endParaRPr lang="en-US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79512" y="377423"/>
            <a:ext cx="8964487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r>
              <a:t>Detailed Progress – Development Phase</a:t>
            </a: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1325880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HTML: organized analyzer and builder sections with simple labels.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856232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CSS: added responsive layout, glass panels, borders, blur, and shadows.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386584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JavaScript: connected forms, validation, API calls, preview, and export.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916936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Node.js: served frontend files and handled JSON API routes.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447288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Dataset: loaded training resumes, job roles, skills, and test samples.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977640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Testing: checked analyzer, data parser, and validation functions.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47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03415" y="298973"/>
            <a:ext cx="4392488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r>
              <a:t>Methodology</a:t>
            </a: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9512" y="1293834"/>
            <a:ext cx="8784976" cy="372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417320"/>
            <a:ext cx="1234440" cy="123444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rPr sz="1400"/>
              <a:t>1</a:t>
            </a:r>
            <a:endParaRPr sz="1400"/>
          </a:p>
          <a:p>
            <a:r>
              <a:rPr sz="1400"/>
              <a:t>User enters resume text</a:t>
            </a:r>
            <a:endParaRPr sz="1400"/>
          </a:p>
        </p:txBody>
      </p:sp>
      <p:sp>
        <p:nvSpPr>
          <p:cNvPr id="11" name="Rounded Rectangle 10"/>
          <p:cNvSpPr/>
          <p:nvPr/>
        </p:nvSpPr>
        <p:spPr>
          <a:xfrm>
            <a:off x="2258568" y="1417320"/>
            <a:ext cx="1234440" cy="123444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rPr sz="1400"/>
              <a:t>2</a:t>
            </a:r>
            <a:endParaRPr sz="1400"/>
          </a:p>
          <a:p>
            <a:r>
              <a:rPr sz="1400"/>
              <a:t>Frontend sends data to API</a:t>
            </a:r>
            <a:endParaRPr sz="1400"/>
          </a:p>
        </p:txBody>
      </p:sp>
      <p:cxnSp>
        <p:nvCxnSpPr>
          <p:cNvPr id="12" name="Connector 11"/>
          <p:cNvCxnSpPr/>
          <p:nvPr/>
        </p:nvCxnSpPr>
        <p:spPr>
          <a:xfrm>
            <a:off x="1920240" y="2034540"/>
            <a:ext cx="338328" cy="0"/>
          </a:xfrm>
          <a:prstGeom prst="line">
            <a:avLst/>
          </a:prstGeom>
          <a:ln w="1905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831335" y="1417320"/>
            <a:ext cx="1234440" cy="123444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t>3</a:t>
            </a:r>
          </a:p>
          <a:p>
            <a:r>
              <a:rPr sz="1400"/>
              <a:t>Backend cleans and checks text</a:t>
            </a:r>
            <a:endParaRPr sz="1400"/>
          </a:p>
        </p:txBody>
      </p:sp>
      <p:cxnSp>
        <p:nvCxnSpPr>
          <p:cNvPr id="14" name="Connector 13"/>
          <p:cNvCxnSpPr/>
          <p:nvPr/>
        </p:nvCxnSpPr>
        <p:spPr>
          <a:xfrm>
            <a:off x="3493008" y="2034540"/>
            <a:ext cx="338327" cy="0"/>
          </a:xfrm>
          <a:prstGeom prst="line">
            <a:avLst/>
          </a:prstGeom>
          <a:ln w="1905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404104" y="1417320"/>
            <a:ext cx="1234440" cy="123444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rPr sz="1400"/>
              <a:t>4</a:t>
            </a:r>
            <a:endParaRPr sz="1400"/>
          </a:p>
          <a:p>
            <a:r>
              <a:rPr sz="1400"/>
              <a:t>Analyzer finds skills and role match</a:t>
            </a:r>
            <a:endParaRPr sz="1400"/>
          </a:p>
        </p:txBody>
      </p:sp>
      <p:cxnSp>
        <p:nvCxnSpPr>
          <p:cNvPr id="16" name="Connector 15"/>
          <p:cNvCxnSpPr/>
          <p:nvPr/>
        </p:nvCxnSpPr>
        <p:spPr>
          <a:xfrm>
            <a:off x="5065775" y="2034540"/>
            <a:ext cx="338329" cy="0"/>
          </a:xfrm>
          <a:prstGeom prst="line">
            <a:avLst/>
          </a:prstGeom>
          <a:ln w="1905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976872" y="1417320"/>
            <a:ext cx="1234440" cy="123444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rPr sz="1400"/>
              <a:t>5</a:t>
            </a:r>
            <a:endParaRPr sz="1400"/>
          </a:p>
          <a:p>
            <a:r>
              <a:rPr sz="1400"/>
              <a:t>Result is shown on the page</a:t>
            </a:r>
            <a:endParaRPr sz="1400"/>
          </a:p>
        </p:txBody>
      </p:sp>
      <p:cxnSp>
        <p:nvCxnSpPr>
          <p:cNvPr id="18" name="Connector 17"/>
          <p:cNvCxnSpPr/>
          <p:nvPr/>
        </p:nvCxnSpPr>
        <p:spPr>
          <a:xfrm>
            <a:off x="6638544" y="2034540"/>
            <a:ext cx="338328" cy="0"/>
          </a:xfrm>
          <a:prstGeom prst="line">
            <a:avLst/>
          </a:prstGeom>
          <a:ln w="1905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22960" y="3337560"/>
            <a:ext cx="74980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The analyzer uses text cleaning, skill extraction, experience and education detection, and role profile comparison. The final score is based on skill coverage, text similarity, education, and experience.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77133" y="100424"/>
            <a:ext cx="8280920" cy="10772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r>
              <a:t>Project Architecture</a:t>
            </a: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9512" y="1293834"/>
            <a:ext cx="8784976" cy="372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 </a:t>
            </a:r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spAutoFit/>
          </a:bodyPr>
          <a:lstStyle/>
          <a:p>
            <a:endParaRPr lang="en-IN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r:id="rId3" p14:bwMode="auto">
            <p14:nvContentPartPr>
              <p14:cNvPr id="14" name="Ink 13"/>
              <p14:cNvContentPartPr/>
              <p14:nvPr/>
            </p14:nvContentPartPr>
            <p14:xfrm>
              <a:off x="6087360" y="2475240"/>
              <a:ext cx="646200" cy="333720"/>
            </p14:xfrm>
          </p:contentPart>
        </mc:Choice>
        <mc:Fallback xmlns="">
          <p:pic>
            <p:nvPicPr>
              <p:cNvPr id="14" name="Ink 13"/>
            </p:nvPicPr>
            <p:blipFill>
              <a:blip r:embed="rId4"/>
            </p:blipFill>
            <p:spPr>
              <a:xfrm>
                <a:off x="6087360" y="2475240"/>
                <a:ext cx="646200" cy="333720"/>
              </a:xfrm>
              <a:prstGeom prst="rect"/>
            </p:spPr>
          </p:pic>
        </mc:Fallback>
      </mc:AlternateContent>
      <p:sp>
        <p:nvSpPr>
          <p:cNvPr id="15" name="Rounded Rectangle 14"/>
          <p:cNvSpPr/>
          <p:nvPr/>
        </p:nvSpPr>
        <p:spPr>
          <a:xfrm>
            <a:off x="731520" y="1828800"/>
            <a:ext cx="1828800" cy="91440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t>Frontend</a:t>
            </a:r>
          </a:p>
          <a:p>
            <a:r>
              <a:t>HTML + CSS + JavaScript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00400" y="1828800"/>
            <a:ext cx="1828800" cy="91440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t>Node.js Server</a:t>
            </a:r>
          </a:p>
          <a:p>
            <a:r>
              <a:t>API Routes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0" y="1828800"/>
            <a:ext cx="2057400" cy="91440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t>Analyzer</a:t>
            </a:r>
          </a:p>
          <a:p>
            <a:r>
              <a:t>Scoring + Recommendations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0" y="3520440"/>
            <a:ext cx="1828800" cy="82296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t>Dataset</a:t>
            </a:r>
          </a:p>
          <a:p>
            <a:r>
              <a:t>CSV + JSON files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560320" y="2286000"/>
            <a:ext cx="640080" cy="0"/>
          </a:xfrm>
          <a:prstGeom prst="line">
            <a:avLst/>
          </a:prstGeom>
          <a:ln w="1905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029200" y="2286000"/>
            <a:ext cx="640080" cy="0"/>
          </a:xfrm>
          <a:prstGeom prst="line">
            <a:avLst/>
          </a:prstGeom>
          <a:ln w="1905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114800" y="2743200"/>
            <a:ext cx="0" cy="777240"/>
          </a:xfrm>
          <a:prstGeom prst="line">
            <a:avLst/>
          </a:prstGeom>
          <a:ln w="1905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77133" y="100424"/>
            <a:ext cx="8280920" cy="10772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r>
              <a:t>Project Flow</a:t>
            </a: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9512" y="1293834"/>
            <a:ext cx="8784976" cy="372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 </a:t>
            </a:r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spAutoFit/>
          </a:bodyPr>
          <a:lstStyle/>
          <a:p>
            <a:endParaRPr lang="en-IN"/>
          </a:p>
        </p:txBody>
      </p:sp>
      <p:sp>
        <p:nvSpPr>
          <p:cNvPr id="10" name="Rounded Rectangle 9"/>
          <p:cNvSpPr/>
          <p:nvPr/>
        </p:nvSpPr>
        <p:spPr>
          <a:xfrm>
            <a:off x="594360" y="1965960"/>
            <a:ext cx="1234440" cy="73152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t>Open Web App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94560" y="1965960"/>
            <a:ext cx="1234440" cy="73152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t>Paste Resume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828800" y="2331720"/>
            <a:ext cx="365760" cy="0"/>
          </a:xfrm>
          <a:prstGeom prst="line">
            <a:avLst/>
          </a:prstGeom>
          <a:ln w="1905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794760" y="1965960"/>
            <a:ext cx="1234440" cy="73152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t>Click Analyze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29000" y="2331720"/>
            <a:ext cx="365760" cy="0"/>
          </a:xfrm>
          <a:prstGeom prst="line">
            <a:avLst/>
          </a:prstGeom>
          <a:ln w="1905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394960" y="1965960"/>
            <a:ext cx="1234440" cy="73152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rPr sz="1700"/>
              <a:t>API Processes Text</a:t>
            </a:r>
            <a:endParaRPr sz="1700"/>
          </a:p>
        </p:txBody>
      </p:sp>
      <p:cxnSp>
        <p:nvCxnSpPr>
          <p:cNvPr id="16" name="Connector 15"/>
          <p:cNvCxnSpPr/>
          <p:nvPr/>
        </p:nvCxnSpPr>
        <p:spPr>
          <a:xfrm>
            <a:off x="5029200" y="2331720"/>
            <a:ext cx="365760" cy="0"/>
          </a:xfrm>
          <a:prstGeom prst="line">
            <a:avLst/>
          </a:prstGeom>
          <a:ln w="1905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995160" y="1965960"/>
            <a:ext cx="1234440" cy="73152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t>Show Result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629400" y="2331720"/>
            <a:ext cx="365760" cy="0"/>
          </a:xfrm>
          <a:prstGeom prst="line">
            <a:avLst/>
          </a:prstGeom>
          <a:ln w="1905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22960" y="3657600"/>
            <a:ext cx="7406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Resume Builder Flow: Enter details -&gt; Live preview -&gt; Copy text or download JSON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03414" y="298973"/>
            <a:ext cx="6844849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r>
              <a:t>Project Timeline</a:t>
            </a: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9512" y="1293834"/>
            <a:ext cx="8784976" cy="372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 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r:id="rId3" p14:bwMode="auto">
            <p14:nvContentPartPr>
              <p14:cNvPr id="11" name="Ink 10"/>
              <p14:cNvContentPartPr/>
              <p14:nvPr/>
            </p14:nvContentPartPr>
            <p14:xfrm>
              <a:off x="7203160" y="2489200"/>
              <a:ext cx="484560" cy="34920"/>
            </p14:xfrm>
          </p:contentPart>
        </mc:Choice>
        <mc:Fallback xmlns="">
          <p:pic>
            <p:nvPicPr>
              <p:cNvPr id="11" name="Ink 10"/>
            </p:nvPicPr>
            <p:blipFill>
              <a:blip r:embed="rId4"/>
            </p:blipFill>
            <p:spPr>
              <a:xfrm>
                <a:off x="7203160" y="2489200"/>
                <a:ext cx="484560" cy="34920"/>
              </a:xfrm>
              <a:prstGeom prst="rect"/>
            </p:spPr>
          </p:pic>
        </mc:Fallback>
      </mc:AlternateContent>
      <p:sp>
        <p:nvSpPr>
          <p:cNvPr id="12" name="Rounded Rectangle 11"/>
          <p:cNvSpPr/>
          <p:nvPr/>
        </p:nvSpPr>
        <p:spPr>
          <a:xfrm>
            <a:off x="640080" y="1965960"/>
            <a:ext cx="1325880" cy="128016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rPr sz="1600"/>
              <a:t>Step 1</a:t>
            </a:r>
            <a:endParaRPr sz="1600"/>
          </a:p>
          <a:p>
            <a:r>
              <a:rPr sz="1600"/>
              <a:t>Understand problem and dataset</a:t>
            </a:r>
            <a:endParaRPr sz="1600"/>
          </a:p>
        </p:txBody>
      </p:sp>
      <p:sp>
        <p:nvSpPr>
          <p:cNvPr id="13" name="Rounded Rectangle 12"/>
          <p:cNvSpPr/>
          <p:nvPr/>
        </p:nvSpPr>
        <p:spPr>
          <a:xfrm>
            <a:off x="2212848" y="1965960"/>
            <a:ext cx="1325880" cy="128016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rPr sz="1600"/>
              <a:t>Step 2</a:t>
            </a:r>
            <a:endParaRPr sz="1600"/>
          </a:p>
          <a:p>
            <a:r>
              <a:rPr sz="1600"/>
              <a:t>Build backend API and analyzer</a:t>
            </a:r>
            <a:endParaRPr sz="1600"/>
          </a:p>
        </p:txBody>
      </p:sp>
      <p:sp>
        <p:nvSpPr>
          <p:cNvPr id="14" name="Rounded Rectangle 13"/>
          <p:cNvSpPr/>
          <p:nvPr/>
        </p:nvSpPr>
        <p:spPr>
          <a:xfrm>
            <a:off x="3785615" y="1965960"/>
            <a:ext cx="1325880" cy="128016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rPr sz="1600"/>
              <a:t>Step 3</a:t>
            </a:r>
            <a:endParaRPr sz="1600"/>
          </a:p>
          <a:p>
            <a:r>
              <a:rPr sz="1600"/>
              <a:t>Build frontend analyzer and builder</a:t>
            </a:r>
            <a:endParaRPr sz="1600"/>
          </a:p>
        </p:txBody>
      </p:sp>
      <p:sp>
        <p:nvSpPr>
          <p:cNvPr id="15" name="Rounded Rectangle 14"/>
          <p:cNvSpPr/>
          <p:nvPr/>
        </p:nvSpPr>
        <p:spPr>
          <a:xfrm>
            <a:off x="5358384" y="1965960"/>
            <a:ext cx="1325880" cy="128016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rPr sz="1600"/>
              <a:t>Step 4</a:t>
            </a:r>
            <a:endParaRPr sz="1600"/>
          </a:p>
          <a:p>
            <a:r>
              <a:rPr sz="1600"/>
              <a:t>Simplify UI and documentation</a:t>
            </a:r>
            <a:endParaRPr sz="1600"/>
          </a:p>
        </p:txBody>
      </p:sp>
      <p:sp>
        <p:nvSpPr>
          <p:cNvPr id="16" name="Rounded Rectangle 15"/>
          <p:cNvSpPr/>
          <p:nvPr/>
        </p:nvSpPr>
        <p:spPr>
          <a:xfrm>
            <a:off x="6931152" y="1965960"/>
            <a:ext cx="1325880" cy="1280160"/>
          </a:xfrm>
          <a:prstGeom prst="roundRect">
            <a:avLst/>
          </a:prstGeom>
          <a:solidFill>
            <a:srgbClr val="0066B3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r>
              <a:rPr sz="1500"/>
              <a:t>Step 5</a:t>
            </a:r>
            <a:endParaRPr sz="1500"/>
          </a:p>
          <a:p>
            <a:r>
              <a:rPr sz="1500"/>
              <a:t>Test project and prepare report/presentation</a:t>
            </a:r>
            <a:endParaRPr sz="15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03415" y="298973"/>
            <a:ext cx="4392488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r>
              <a:t>Data &amp; Resources</a:t>
            </a: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9512" y="1293834"/>
            <a:ext cx="8784976" cy="372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 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596265" y="1456690"/>
            <a:ext cx="7936230" cy="5321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IN" altLang="en-US"/>
              <a:t>-</a:t>
            </a:r>
            <a:r>
              <a:rPr lang="en-US" altLang="en-US"/>
              <a:t>The project uses a local synthetic resume-role dataset stored in CSV and JSON files.</a:t>
            </a:r>
            <a:endParaRPr lang="en-US" altLang="en-US"/>
          </a:p>
        </p:txBody>
      </p:sp>
      <p:sp>
        <p:nvSpPr>
          <p:cNvPr id="8" name="Text Box 7"/>
          <p:cNvSpPr txBox="1"/>
          <p:nvPr/>
        </p:nvSpPr>
        <p:spPr>
          <a:xfrm>
            <a:off x="596265" y="2185035"/>
            <a:ext cx="7703185" cy="595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IN" altLang="en-US"/>
              <a:t>-</a:t>
            </a:r>
            <a:r>
              <a:rPr lang="en-US" altLang="en-US"/>
              <a:t>Main data includes training resumes, job role profiles, skill lists, and test resume samples.</a:t>
            </a:r>
            <a:endParaRPr lang="en-US" altLang="en-US"/>
          </a:p>
        </p:txBody>
      </p:sp>
      <p:sp>
        <p:nvSpPr>
          <p:cNvPr id="15" name="Text Box 14"/>
          <p:cNvSpPr txBox="1"/>
          <p:nvPr/>
        </p:nvSpPr>
        <p:spPr>
          <a:xfrm>
            <a:off x="596265" y="2996565"/>
            <a:ext cx="7649210" cy="5981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IN" altLang="en-US"/>
              <a:t>-</a:t>
            </a:r>
            <a:r>
              <a:rPr lang="en-US" altLang="en-US"/>
              <a:t>The dataset source is Kaggle: https://www.kaggle.com/datasets/trendcart/resume-dataset</a:t>
            </a:r>
            <a:endParaRPr lang="en-US" altLang="en-US"/>
          </a:p>
        </p:txBody>
      </p:sp>
      <p:sp>
        <p:nvSpPr>
          <p:cNvPr id="16" name="Text Box 15"/>
          <p:cNvSpPr txBox="1"/>
          <p:nvPr/>
        </p:nvSpPr>
        <p:spPr>
          <a:xfrm>
            <a:off x="611505" y="3932555"/>
            <a:ext cx="7658735" cy="6559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IN" altLang="en-US"/>
              <a:t>-</a:t>
            </a:r>
            <a:r>
              <a:rPr lang="en-US" altLang="en-US"/>
              <a:t>The app loads the data locally, so no external API or cloud database is needed.</a:t>
            </a:r>
            <a:endParaRPr lang="en-US" altLang="en-US"/>
          </a:p>
        </p:txBody>
      </p:sp>
      <p:sp>
        <p:nvSpPr>
          <p:cNvPr id="17" name="Text Box 16"/>
          <p:cNvSpPr txBox="1"/>
          <p:nvPr/>
        </p:nvSpPr>
        <p:spPr>
          <a:xfrm>
            <a:off x="596265" y="4622800"/>
            <a:ext cx="7640955" cy="6578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IN" altLang="en-US"/>
              <a:t>-</a:t>
            </a:r>
            <a:r>
              <a:rPr lang="en-US" altLang="en-US"/>
              <a:t>Supporting resources include Node.js server code, frontend files, tests, and export templates for resume output.</a:t>
            </a:r>
            <a:endParaRPr lang="en-US" alt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4976" y="-13692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79512" y="151593"/>
            <a:ext cx="6117380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r>
              <a:t>Project Use Cases &amp; Scope</a:t>
            </a: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9512" y="1293834"/>
            <a:ext cx="8784976" cy="372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325880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Students can check whether their resume matches a target role.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856232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Users can compare resume text with a job description.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386584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Users can identify important missing skills.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916936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Students can build a simple ATS friendly resume.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447288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 Scope is limited to guidance only, not final hiring decisions.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03414" y="298973"/>
            <a:ext cx="6844849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r>
              <a:t>Expected Results &amp; Impact</a:t>
            </a: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9512" y="1293834"/>
            <a:ext cx="8784976" cy="372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 </a:t>
            </a:r>
          </a:p>
        </p:txBody>
      </p:sp>
      <p:sp>
        <p:nvSpPr>
          <p:cNvPr id="2" name="Text Box 1"/>
          <p:cNvSpPr txBox="1"/>
          <p:nvPr/>
        </p:nvSpPr>
        <p:spPr>
          <a:xfrm>
            <a:off x="539750" y="1556385"/>
            <a:ext cx="7220585" cy="5740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IN" altLang="en-US"/>
              <a:t>-</a:t>
            </a:r>
            <a:r>
              <a:rPr lang="en-US" altLang="en-US"/>
              <a:t>Users can quickly analyze resumes and identify skill gaps against a target job role.</a:t>
            </a:r>
            <a:endParaRPr lang="en-US"/>
          </a:p>
        </p:txBody>
      </p:sp>
      <p:sp>
        <p:nvSpPr>
          <p:cNvPr id="3" name="Text Box 2"/>
          <p:cNvSpPr txBox="1"/>
          <p:nvPr/>
        </p:nvSpPr>
        <p:spPr>
          <a:xfrm>
            <a:off x="539750" y="2336165"/>
            <a:ext cx="7593965" cy="5740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IN" altLang="en-US"/>
              <a:t>-</a:t>
            </a:r>
            <a:r>
              <a:rPr lang="en-US" altLang="en-US"/>
              <a:t>The project improves resume quality by helping users build ATS-friendly resumes.</a:t>
            </a:r>
            <a:endParaRPr lang="en-US" altLang="en-US"/>
          </a:p>
        </p:txBody>
      </p:sp>
      <p:sp>
        <p:nvSpPr>
          <p:cNvPr id="8" name="Text Box 7"/>
          <p:cNvSpPr txBox="1"/>
          <p:nvPr/>
        </p:nvSpPr>
        <p:spPr>
          <a:xfrm>
            <a:off x="539750" y="3098800"/>
            <a:ext cx="7629525" cy="4965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IN" altLang="en-US"/>
              <a:t>-</a:t>
            </a:r>
            <a:r>
              <a:rPr lang="en-US" altLang="en-US"/>
              <a:t>It saves time by giving instant role suggestions, scoring, and export options.</a:t>
            </a:r>
            <a:endParaRPr lang="en-US" altLang="en-US"/>
          </a:p>
        </p:txBody>
      </p:sp>
      <p:sp>
        <p:nvSpPr>
          <p:cNvPr id="15" name="Text Box 14"/>
          <p:cNvSpPr txBox="1"/>
          <p:nvPr/>
        </p:nvSpPr>
        <p:spPr>
          <a:xfrm>
            <a:off x="539750" y="3716655"/>
            <a:ext cx="7071995" cy="5810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IN" altLang="en-US"/>
              <a:t>-</a:t>
            </a:r>
            <a:r>
              <a:rPr lang="en-US" altLang="en-US"/>
              <a:t>The tool makes resume improvement more structured, clear, and easier for students and job seekers.</a:t>
            </a:r>
            <a:endParaRPr lang="en-US"/>
          </a:p>
        </p:txBody>
      </p:sp>
      <p:sp>
        <p:nvSpPr>
          <p:cNvPr id="16" name="Text Box 15"/>
          <p:cNvSpPr txBox="1"/>
          <p:nvPr/>
        </p:nvSpPr>
        <p:spPr>
          <a:xfrm>
            <a:off x="539750" y="4509135"/>
            <a:ext cx="7046595" cy="5924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IN" altLang="en-US"/>
              <a:t>-</a:t>
            </a:r>
            <a:r>
              <a:rPr lang="en-US" altLang="en-US"/>
              <a:t>Since it runs locally with explainable results, it is useful for learning and safe decision support</a:t>
            </a:r>
            <a:r>
              <a:rPr lang="en-IN" altLang="en-US"/>
              <a:t>.</a:t>
            </a:r>
            <a:endParaRPr lang="en-IN" alt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80512" cy="6858000"/>
          </a:xfr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619885" y="2564765"/>
            <a:ext cx="5650865" cy="126238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6000" dirty="0">
                <a:solidFill>
                  <a:srgbClr val="0060AA"/>
                </a:solidFill>
                <a:latin typeface="Garamond" panose="02020404030301010803" pitchFamily="18" charset="0"/>
                <a:sym typeface="+mn-ea"/>
              </a:rPr>
              <a:t>THANK</a:t>
            </a:r>
            <a:r>
              <a:rPr lang="en-US" sz="6000" dirty="0">
                <a:latin typeface="Garamond" panose="02020404030301010803" pitchFamily="18" charset="0"/>
                <a:sym typeface="+mn-ea"/>
              </a:rPr>
              <a:t> </a:t>
            </a:r>
            <a:r>
              <a:rPr lang="en-US" sz="6000" dirty="0">
                <a:solidFill>
                  <a:srgbClr val="E31E24"/>
                </a:solidFill>
                <a:latin typeface="Garamond" panose="02020404030301010803" pitchFamily="18" charset="0"/>
                <a:sym typeface="+mn-ea"/>
              </a:rPr>
              <a:t>YOU</a:t>
            </a:r>
            <a:endParaRPr sz="6000" b="1">
              <a:solidFill>
                <a:srgbClr val="FF0000"/>
              </a:solidFill>
              <a:latin typeface="Broadway" panose="04040905080B02020502" charset="0"/>
              <a:cs typeface="Broadway" panose="04040905080B02020502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noAutofit/>
      </a:bodyPr>
      <a:lstStyle>
        <a:defPPr>
          <a:defRPr lang="en-US"/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4123</Words>
  <Application>WPS Presentation</Application>
  <PresentationFormat>On-screen Show (4:3)</PresentationFormat>
  <Paragraphs>213</Paragraphs>
  <Slides>15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4" baseType="lpstr">
      <vt:lpstr>Arial</vt:lpstr>
      <vt:lpstr>SimSun</vt:lpstr>
      <vt:lpstr>Wingdings</vt:lpstr>
      <vt:lpstr>Broadway</vt:lpstr>
      <vt:lpstr>Calibri</vt:lpstr>
      <vt:lpstr>Microsoft YaHei</vt:lpstr>
      <vt:lpstr>Arial Unicode MS</vt:lpstr>
      <vt:lpstr>Garamond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WEBDEV</dc:creator>
  <cp:lastModifiedBy>Arnav Kapil</cp:lastModifiedBy>
  <cp:revision>318</cp:revision>
  <cp:lastPrinted>2022-09-05T08:43:00Z</cp:lastPrinted>
  <dcterms:created xsi:type="dcterms:W3CDTF">2020-01-16T09:05:00Z</dcterms:created>
  <dcterms:modified xsi:type="dcterms:W3CDTF">2026-07-15T08:09:01Z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1033-12.1.0.27455</vt:lpwstr>
  </property>
  <property fmtid="{D5CDD505-2E9C-101B-9397-08002B2CF9AE}" pid="3" name="ICV">
    <vt:lpwstr>101F2C0E549E4F4BBCE3F12A638F1108_12</vt:lpwstr>
  </property>
</Properties>
</file>